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2.jpg" ContentType="image/jpg"/>
  <Override PartName="/ppt/media/image19.svg" ContentType="image/svg+xml"/>
  <Override PartName="/ppt/media/image21.svg" ContentType="image/svg+xml"/>
  <Override PartName="/ppt/media/image23.svg" ContentType="image/svg+xml"/>
  <Override PartName="/ppt/media/image25.svg" ContentType="image/svg+xml"/>
  <Override PartName="/ppt/media/image27.jpg" ContentType="image/jpg"/>
  <Override PartName="/ppt/media/image32.jpg" ContentType="image/jpg"/>
  <Override PartName="/ppt/media/image36.jpg" ContentType="image/jpg"/>
  <Override PartName="/ppt/media/image40.jpg" ContentType="image/jpg"/>
  <Override PartName="/ppt/media/image45.svg" ContentType="image/svg+xml"/>
  <Override PartName="/ppt/media/image47.svg" ContentType="image/svg+xml"/>
  <Override PartName="/ppt/media/image49.svg" ContentType="image/svg+xml"/>
  <Override PartName="/ppt/media/image51.svg" ContentType="image/svg+xml"/>
  <Override PartName="/ppt/media/image52.jpg" ContentType="image/jpg"/>
  <Override PartName="/ppt/media/image8.jpg" ContentType="image/jpg"/>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0"/>
  </p:notesMasterIdLst>
  <p:sldIdLst>
    <p:sldId id="256" r:id="rId6"/>
    <p:sldId id="277" r:id="rId7"/>
    <p:sldId id="278" r:id="rId8"/>
    <p:sldId id="280" r:id="rId9"/>
    <p:sldId id="285" r:id="rId10"/>
    <p:sldId id="298" r:id="rId11"/>
    <p:sldId id="287" r:id="rId12"/>
    <p:sldId id="299" r:id="rId13"/>
    <p:sldId id="288" r:id="rId14"/>
    <p:sldId id="301" r:id="rId25"/>
    <p:sldId id="302" r:id="rId26"/>
    <p:sldId id="303" r:id="rId27"/>
    <p:sldId id="304" r:id="rId28"/>
    <p:sldId id="305" r:id="rId29"/>
    <p:sldId id="259" r:id="rId15"/>
    <p:sldId id="263" r:id="rId16"/>
    <p:sldId id="300" r:id="rId17"/>
    <p:sldId id="295" r:id="rId18"/>
    <p:sldId id="276" r:id="rId19"/>
  </p:sldIdLst>
  <p:sldSz cx="20104100" cy="11309350"/>
  <p:notesSz cx="20104100" cy="1130935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740" autoAdjust="0"/>
  </p:normalViewPr>
  <p:slideViewPr>
    <p:cSldViewPr>
      <p:cViewPr varScale="1">
        <p:scale>
          <a:sx n="59" d="100"/>
          <a:sy n="59" d="100"/>
        </p:scale>
        <p:origin x="114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s>
</file>

<file path=ppt/diagrams/_rels/data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svg"/><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4.png"/><Relationship Id="rId8" Type="http://schemas.openxmlformats.org/officeDocument/2006/relationships/image" Target="../media/image25.svg"/></Relationships>
</file>

<file path=ppt/diagrams/_rels/data2.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sv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48.png"/><Relationship Id="rId6" Type="http://schemas.openxmlformats.org/officeDocument/2006/relationships/image" Target="../media/image49.svg"/><Relationship Id="rId7" Type="http://schemas.openxmlformats.org/officeDocument/2006/relationships/image" Target="../media/image50.png"/><Relationship Id="rId8" Type="http://schemas.openxmlformats.org/officeDocument/2006/relationships/image" Target="../media/image51.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svg"/><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4.png"/><Relationship Id="rId8" Type="http://schemas.openxmlformats.org/officeDocument/2006/relationships/image" Target="../media/image25.svg"/></Relationships>
</file>

<file path=ppt/diagrams/_rels/drawing2.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sv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48.png"/><Relationship Id="rId6" Type="http://schemas.openxmlformats.org/officeDocument/2006/relationships/image" Target="../media/image49.svg"/><Relationship Id="rId7" Type="http://schemas.openxmlformats.org/officeDocument/2006/relationships/image" Target="../media/image50.png"/><Relationship Id="rId8" Type="http://schemas.openxmlformats.org/officeDocument/2006/relationships/image" Target="../media/image5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4AE0ED-2752-4415-9C6C-BB73D2B1389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47F3E13-DAE3-4E14-8D76-5AE1B5F8D8F8}">
      <dgm:prSet custT="1"/>
      <dgm:spPr/>
      <dgm:t>
        <a:bodyPr/>
        <a:lstStyle/>
        <a:p>
          <a:pPr>
            <a:lnSpc>
              <a:spcPct val="100000"/>
            </a:lnSpc>
          </a:pPr>
          <a:r>
            <a:rPr lang="es-419" sz="2400" dirty="0"/>
            <a:t>Optimizar y rediseñar procesos existentes.</a:t>
          </a:r>
          <a:endParaRPr lang="es-419" sz="2400" noProof="0" dirty="0"/>
        </a:p>
      </dgm:t>
    </dgm:pt>
    <dgm:pt modelId="{29AA4338-A66A-4B4B-97D8-0E59A3BFF3F0}" type="parTrans" cxnId="{99E82118-16B7-47BC-A42B-32CF72CCFB7B}">
      <dgm:prSet/>
      <dgm:spPr/>
      <dgm:t>
        <a:bodyPr/>
        <a:lstStyle/>
        <a:p>
          <a:endParaRPr lang="en-US" sz="1200"/>
        </a:p>
      </dgm:t>
    </dgm:pt>
    <dgm:pt modelId="{DFE6E289-D9EB-477D-95A0-341A12FCB211}" type="sibTrans" cxnId="{99E82118-16B7-47BC-A42B-32CF72CCFB7B}">
      <dgm:prSet/>
      <dgm:spPr/>
      <dgm:t>
        <a:bodyPr/>
        <a:lstStyle/>
        <a:p>
          <a:endParaRPr lang="en-US" sz="1200"/>
        </a:p>
      </dgm:t>
    </dgm:pt>
    <dgm:pt modelId="{121DD385-2F17-4159-AD7C-C0E4F4FAEDD3}">
      <dgm:prSet custT="1"/>
      <dgm:spPr/>
      <dgm:t>
        <a:bodyPr/>
        <a:lstStyle/>
        <a:p>
          <a:pPr>
            <a:lnSpc>
              <a:spcPct val="100000"/>
            </a:lnSpc>
          </a:pPr>
          <a:r>
            <a:rPr lang="es-419" sz="2400" dirty="0"/>
            <a:t>Apoyar la implementación de herramientas BPM o RPA.</a:t>
          </a:r>
          <a:endParaRPr lang="en-US" sz="2400" dirty="0"/>
        </a:p>
      </dgm:t>
    </dgm:pt>
    <dgm:pt modelId="{D660BBF9-AFA4-4395-8B7A-5980B04E7E30}" type="parTrans" cxnId="{284D87AF-2E65-4059-B660-0263E92B270A}">
      <dgm:prSet/>
      <dgm:spPr/>
      <dgm:t>
        <a:bodyPr/>
        <a:lstStyle/>
        <a:p>
          <a:endParaRPr lang="en-US" sz="1200"/>
        </a:p>
      </dgm:t>
    </dgm:pt>
    <dgm:pt modelId="{C508579F-3D97-4C61-98DA-03AFD95F14C1}" type="sibTrans" cxnId="{284D87AF-2E65-4059-B660-0263E92B270A}">
      <dgm:prSet/>
      <dgm:spPr/>
      <dgm:t>
        <a:bodyPr/>
        <a:lstStyle/>
        <a:p>
          <a:endParaRPr lang="en-US" sz="1200"/>
        </a:p>
      </dgm:t>
    </dgm:pt>
    <dgm:pt modelId="{5306E192-B395-47BC-8EB2-F5C99B6DB516}">
      <dgm:prSet custT="1"/>
      <dgm:spPr/>
      <dgm:t>
        <a:bodyPr/>
        <a:lstStyle/>
        <a:p>
          <a:pPr>
            <a:lnSpc>
              <a:spcPct val="100000"/>
            </a:lnSpc>
          </a:pPr>
          <a:r>
            <a:rPr lang="es-419" sz="2400" dirty="0"/>
            <a:t>Comunicar con claridad reglas de negocio.</a:t>
          </a:r>
          <a:endParaRPr lang="en-US" sz="2400" dirty="0"/>
        </a:p>
      </dgm:t>
    </dgm:pt>
    <dgm:pt modelId="{4AC3DE18-6195-4395-ADDE-9B837EDB172C}" type="parTrans" cxnId="{B9F9F791-538E-40F4-8F29-5DB20A765674}">
      <dgm:prSet/>
      <dgm:spPr/>
      <dgm:t>
        <a:bodyPr/>
        <a:lstStyle/>
        <a:p>
          <a:endParaRPr lang="en-US" sz="1200"/>
        </a:p>
      </dgm:t>
    </dgm:pt>
    <dgm:pt modelId="{0D6FB385-6D0A-4A22-B519-06CF78773526}" type="sibTrans" cxnId="{B9F9F791-538E-40F4-8F29-5DB20A765674}">
      <dgm:prSet/>
      <dgm:spPr/>
      <dgm:t>
        <a:bodyPr/>
        <a:lstStyle/>
        <a:p>
          <a:endParaRPr lang="en-US" sz="1200"/>
        </a:p>
      </dgm:t>
    </dgm:pt>
    <dgm:pt modelId="{73168FC0-2EE8-46C5-94D6-FB2FCF731800}">
      <dgm:prSet custT="1"/>
      <dgm:spPr/>
      <dgm:t>
        <a:bodyPr/>
        <a:lstStyle/>
        <a:p>
          <a:pPr>
            <a:lnSpc>
              <a:spcPct val="100000"/>
            </a:lnSpc>
          </a:pPr>
          <a:r>
            <a:rPr lang="es-419" sz="2400" dirty="0"/>
            <a:t>Identificar pasos innecesarios o repetitivos.</a:t>
          </a:r>
          <a:endParaRPr lang="en-US" sz="2400" dirty="0"/>
        </a:p>
      </dgm:t>
    </dgm:pt>
    <dgm:pt modelId="{27938B75-10AD-4198-A3A7-054B9D811ABA}" type="parTrans" cxnId="{C9894169-81C8-46DB-8B38-DAAEC88271B7}">
      <dgm:prSet/>
      <dgm:spPr/>
      <dgm:t>
        <a:bodyPr/>
        <a:lstStyle/>
        <a:p>
          <a:endParaRPr lang="en-US" sz="1200"/>
        </a:p>
      </dgm:t>
    </dgm:pt>
    <dgm:pt modelId="{3F67B623-FFEC-4C11-8146-8A0F2E6D603B}" type="sibTrans" cxnId="{C9894169-81C8-46DB-8B38-DAAEC88271B7}">
      <dgm:prSet/>
      <dgm:spPr/>
      <dgm:t>
        <a:bodyPr/>
        <a:lstStyle/>
        <a:p>
          <a:endParaRPr lang="en-US" sz="1200"/>
        </a:p>
      </dgm:t>
    </dgm:pt>
    <dgm:pt modelId="{DF3E4CCD-3CD6-4DE3-AFA1-DEC99C370776}" type="pres">
      <dgm:prSet presAssocID="{EF4AE0ED-2752-4415-9C6C-BB73D2B1389C}" presName="root" presStyleCnt="0">
        <dgm:presLayoutVars>
          <dgm:dir/>
          <dgm:resizeHandles val="exact"/>
        </dgm:presLayoutVars>
      </dgm:prSet>
      <dgm:spPr/>
    </dgm:pt>
    <dgm:pt modelId="{3669C3BC-E110-4776-97B1-7BD9172220FB}" type="pres">
      <dgm:prSet presAssocID="{747F3E13-DAE3-4E14-8D76-5AE1B5F8D8F8}" presName="compNode" presStyleCnt="0"/>
      <dgm:spPr/>
    </dgm:pt>
    <dgm:pt modelId="{57D1792E-878D-48FC-9C31-DDCE1E16236D}" type="pres">
      <dgm:prSet presAssocID="{747F3E13-DAE3-4E14-8D76-5AE1B5F8D8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2D9B25BD-0E7C-4825-BD0C-E8DDB88AF46B}" type="pres">
      <dgm:prSet presAssocID="{747F3E13-DAE3-4E14-8D76-5AE1B5F8D8F8}" presName="spaceRect" presStyleCnt="0"/>
      <dgm:spPr/>
    </dgm:pt>
    <dgm:pt modelId="{C0C55258-29A5-4D66-8AA3-0C357295FBE9}" type="pres">
      <dgm:prSet presAssocID="{747F3E13-DAE3-4E14-8D76-5AE1B5F8D8F8}" presName="textRect" presStyleLbl="revTx" presStyleIdx="0" presStyleCnt="4">
        <dgm:presLayoutVars>
          <dgm:chMax val="1"/>
          <dgm:chPref val="1"/>
        </dgm:presLayoutVars>
      </dgm:prSet>
      <dgm:spPr/>
    </dgm:pt>
    <dgm:pt modelId="{0AD9363A-4720-4866-BF8B-538D8D79A8DF}" type="pres">
      <dgm:prSet presAssocID="{DFE6E289-D9EB-477D-95A0-341A12FCB211}" presName="sibTrans" presStyleCnt="0"/>
      <dgm:spPr/>
    </dgm:pt>
    <dgm:pt modelId="{68A55AB0-8ACB-4369-A5CF-115CC8268B03}" type="pres">
      <dgm:prSet presAssocID="{73168FC0-2EE8-46C5-94D6-FB2FCF731800}" presName="compNode" presStyleCnt="0"/>
      <dgm:spPr/>
    </dgm:pt>
    <dgm:pt modelId="{90C1DEFA-2B62-47FE-B06F-2F8A21A15AA2}" type="pres">
      <dgm:prSet presAssocID="{73168FC0-2EE8-46C5-94D6-FB2FCF73180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wnward trend"/>
        </a:ext>
      </dgm:extLst>
    </dgm:pt>
    <dgm:pt modelId="{719A95EF-BDAD-4FA1-8038-E981043A3989}" type="pres">
      <dgm:prSet presAssocID="{73168FC0-2EE8-46C5-94D6-FB2FCF731800}" presName="spaceRect" presStyleCnt="0"/>
      <dgm:spPr/>
    </dgm:pt>
    <dgm:pt modelId="{D9F2169D-6F7F-4DFE-BDE4-D489A67E956B}" type="pres">
      <dgm:prSet presAssocID="{73168FC0-2EE8-46C5-94D6-FB2FCF731800}" presName="textRect" presStyleLbl="revTx" presStyleIdx="1" presStyleCnt="4">
        <dgm:presLayoutVars>
          <dgm:chMax val="1"/>
          <dgm:chPref val="1"/>
        </dgm:presLayoutVars>
      </dgm:prSet>
      <dgm:spPr/>
    </dgm:pt>
    <dgm:pt modelId="{BAD846C5-94E8-4310-B29D-A6715C64AE61}" type="pres">
      <dgm:prSet presAssocID="{3F67B623-FFEC-4C11-8146-8A0F2E6D603B}" presName="sibTrans" presStyleCnt="0"/>
      <dgm:spPr/>
    </dgm:pt>
    <dgm:pt modelId="{918E07B1-449A-4EF5-8B05-BA6DD9CE48FC}" type="pres">
      <dgm:prSet presAssocID="{5306E192-B395-47BC-8EB2-F5C99B6DB516}" presName="compNode" presStyleCnt="0"/>
      <dgm:spPr/>
    </dgm:pt>
    <dgm:pt modelId="{3DF926FE-F029-4586-AC7B-9620E956F2BE}" type="pres">
      <dgm:prSet presAssocID="{5306E192-B395-47BC-8EB2-F5C99B6DB5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FF3E5051-5980-41FF-BC9B-3007367A0E97}" type="pres">
      <dgm:prSet presAssocID="{5306E192-B395-47BC-8EB2-F5C99B6DB516}" presName="spaceRect" presStyleCnt="0"/>
      <dgm:spPr/>
    </dgm:pt>
    <dgm:pt modelId="{F5619732-5100-4043-947F-64485C96E0B9}" type="pres">
      <dgm:prSet presAssocID="{5306E192-B395-47BC-8EB2-F5C99B6DB516}" presName="textRect" presStyleLbl="revTx" presStyleIdx="2" presStyleCnt="4">
        <dgm:presLayoutVars>
          <dgm:chMax val="1"/>
          <dgm:chPref val="1"/>
        </dgm:presLayoutVars>
      </dgm:prSet>
      <dgm:spPr/>
    </dgm:pt>
    <dgm:pt modelId="{2F24C7F8-E601-48B2-9734-3374A19BEDD1}" type="pres">
      <dgm:prSet presAssocID="{0D6FB385-6D0A-4A22-B519-06CF78773526}" presName="sibTrans" presStyleCnt="0"/>
      <dgm:spPr/>
    </dgm:pt>
    <dgm:pt modelId="{7D101957-6953-4E5A-8279-461D89105DE1}" type="pres">
      <dgm:prSet presAssocID="{121DD385-2F17-4159-AD7C-C0E4F4FAEDD3}" presName="compNode" presStyleCnt="0"/>
      <dgm:spPr/>
    </dgm:pt>
    <dgm:pt modelId="{01411487-2E52-4DFB-B601-A4D3DFB6659C}" type="pres">
      <dgm:prSet presAssocID="{121DD385-2F17-4159-AD7C-C0E4F4FAEDD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ngranajes"/>
        </a:ext>
      </dgm:extLst>
    </dgm:pt>
    <dgm:pt modelId="{8046641C-37C2-4A09-A403-20BC0118E984}" type="pres">
      <dgm:prSet presAssocID="{121DD385-2F17-4159-AD7C-C0E4F4FAEDD3}" presName="spaceRect" presStyleCnt="0"/>
      <dgm:spPr/>
    </dgm:pt>
    <dgm:pt modelId="{4A8735D0-F180-4701-8A74-109C6F1DD34B}" type="pres">
      <dgm:prSet presAssocID="{121DD385-2F17-4159-AD7C-C0E4F4FAEDD3}" presName="textRect" presStyleLbl="revTx" presStyleIdx="3" presStyleCnt="4">
        <dgm:presLayoutVars>
          <dgm:chMax val="1"/>
          <dgm:chPref val="1"/>
        </dgm:presLayoutVars>
      </dgm:prSet>
      <dgm:spPr/>
    </dgm:pt>
  </dgm:ptLst>
  <dgm:cxnLst>
    <dgm:cxn modelId="{99E82118-16B7-47BC-A42B-32CF72CCFB7B}" srcId="{EF4AE0ED-2752-4415-9C6C-BB73D2B1389C}" destId="{747F3E13-DAE3-4E14-8D76-5AE1B5F8D8F8}" srcOrd="0" destOrd="0" parTransId="{29AA4338-A66A-4B4B-97D8-0E59A3BFF3F0}" sibTransId="{DFE6E289-D9EB-477D-95A0-341A12FCB211}"/>
    <dgm:cxn modelId="{E07A3723-0D11-4983-9B8E-15674015251E}" type="presOf" srcId="{747F3E13-DAE3-4E14-8D76-5AE1B5F8D8F8}" destId="{C0C55258-29A5-4D66-8AA3-0C357295FBE9}" srcOrd="0" destOrd="0" presId="urn:microsoft.com/office/officeart/2018/2/layout/IconLabelList"/>
    <dgm:cxn modelId="{31724739-A00F-47AF-A5F7-7A4F7BC41A32}" type="presOf" srcId="{73168FC0-2EE8-46C5-94D6-FB2FCF731800}" destId="{D9F2169D-6F7F-4DFE-BDE4-D489A67E956B}" srcOrd="0" destOrd="0" presId="urn:microsoft.com/office/officeart/2018/2/layout/IconLabelList"/>
    <dgm:cxn modelId="{C9894169-81C8-46DB-8B38-DAAEC88271B7}" srcId="{EF4AE0ED-2752-4415-9C6C-BB73D2B1389C}" destId="{73168FC0-2EE8-46C5-94D6-FB2FCF731800}" srcOrd="1" destOrd="0" parTransId="{27938B75-10AD-4198-A3A7-054B9D811ABA}" sibTransId="{3F67B623-FFEC-4C11-8146-8A0F2E6D603B}"/>
    <dgm:cxn modelId="{B9F9F791-538E-40F4-8F29-5DB20A765674}" srcId="{EF4AE0ED-2752-4415-9C6C-BB73D2B1389C}" destId="{5306E192-B395-47BC-8EB2-F5C99B6DB516}" srcOrd="2" destOrd="0" parTransId="{4AC3DE18-6195-4395-ADDE-9B837EDB172C}" sibTransId="{0D6FB385-6D0A-4A22-B519-06CF78773526}"/>
    <dgm:cxn modelId="{284D87AF-2E65-4059-B660-0263E92B270A}" srcId="{EF4AE0ED-2752-4415-9C6C-BB73D2B1389C}" destId="{121DD385-2F17-4159-AD7C-C0E4F4FAEDD3}" srcOrd="3" destOrd="0" parTransId="{D660BBF9-AFA4-4395-8B7A-5980B04E7E30}" sibTransId="{C508579F-3D97-4C61-98DA-03AFD95F14C1}"/>
    <dgm:cxn modelId="{BD4069C8-1CD1-46C2-8593-166323AA3899}" type="presOf" srcId="{EF4AE0ED-2752-4415-9C6C-BB73D2B1389C}" destId="{DF3E4CCD-3CD6-4DE3-AFA1-DEC99C370776}" srcOrd="0" destOrd="0" presId="urn:microsoft.com/office/officeart/2018/2/layout/IconLabelList"/>
    <dgm:cxn modelId="{FBB75DF1-BE7C-4D10-BAB7-4B01AE8CD56C}" type="presOf" srcId="{121DD385-2F17-4159-AD7C-C0E4F4FAEDD3}" destId="{4A8735D0-F180-4701-8A74-109C6F1DD34B}" srcOrd="0" destOrd="0" presId="urn:microsoft.com/office/officeart/2018/2/layout/IconLabelList"/>
    <dgm:cxn modelId="{477B41F2-4320-411B-AD9E-5C8228247B02}" type="presOf" srcId="{5306E192-B395-47BC-8EB2-F5C99B6DB516}" destId="{F5619732-5100-4043-947F-64485C96E0B9}" srcOrd="0" destOrd="0" presId="urn:microsoft.com/office/officeart/2018/2/layout/IconLabelList"/>
    <dgm:cxn modelId="{2ABFE545-CEEE-41B5-9E96-8313A9F5445A}" type="presParOf" srcId="{DF3E4CCD-3CD6-4DE3-AFA1-DEC99C370776}" destId="{3669C3BC-E110-4776-97B1-7BD9172220FB}" srcOrd="0" destOrd="0" presId="urn:microsoft.com/office/officeart/2018/2/layout/IconLabelList"/>
    <dgm:cxn modelId="{2650F36C-0116-4486-8848-7807C8C47779}" type="presParOf" srcId="{3669C3BC-E110-4776-97B1-7BD9172220FB}" destId="{57D1792E-878D-48FC-9C31-DDCE1E16236D}" srcOrd="0" destOrd="0" presId="urn:microsoft.com/office/officeart/2018/2/layout/IconLabelList"/>
    <dgm:cxn modelId="{969241A2-58D4-476A-9300-CDED4C4AA53D}" type="presParOf" srcId="{3669C3BC-E110-4776-97B1-7BD9172220FB}" destId="{2D9B25BD-0E7C-4825-BD0C-E8DDB88AF46B}" srcOrd="1" destOrd="0" presId="urn:microsoft.com/office/officeart/2018/2/layout/IconLabelList"/>
    <dgm:cxn modelId="{E3F02011-EB8E-421F-AB88-26BA81B15D73}" type="presParOf" srcId="{3669C3BC-E110-4776-97B1-7BD9172220FB}" destId="{C0C55258-29A5-4D66-8AA3-0C357295FBE9}" srcOrd="2" destOrd="0" presId="urn:microsoft.com/office/officeart/2018/2/layout/IconLabelList"/>
    <dgm:cxn modelId="{C4617A6F-83AD-4E4E-A8E2-8A5B149C8DF8}" type="presParOf" srcId="{DF3E4CCD-3CD6-4DE3-AFA1-DEC99C370776}" destId="{0AD9363A-4720-4866-BF8B-538D8D79A8DF}" srcOrd="1" destOrd="0" presId="urn:microsoft.com/office/officeart/2018/2/layout/IconLabelList"/>
    <dgm:cxn modelId="{D7E9D4BB-3C2F-4C36-8A98-64F310437A55}" type="presParOf" srcId="{DF3E4CCD-3CD6-4DE3-AFA1-DEC99C370776}" destId="{68A55AB0-8ACB-4369-A5CF-115CC8268B03}" srcOrd="2" destOrd="0" presId="urn:microsoft.com/office/officeart/2018/2/layout/IconLabelList"/>
    <dgm:cxn modelId="{BCC78033-60D0-4B0F-BB2C-9AC990C1A0BC}" type="presParOf" srcId="{68A55AB0-8ACB-4369-A5CF-115CC8268B03}" destId="{90C1DEFA-2B62-47FE-B06F-2F8A21A15AA2}" srcOrd="0" destOrd="0" presId="urn:microsoft.com/office/officeart/2018/2/layout/IconLabelList"/>
    <dgm:cxn modelId="{130646D3-7892-49A8-8354-099426363527}" type="presParOf" srcId="{68A55AB0-8ACB-4369-A5CF-115CC8268B03}" destId="{719A95EF-BDAD-4FA1-8038-E981043A3989}" srcOrd="1" destOrd="0" presId="urn:microsoft.com/office/officeart/2018/2/layout/IconLabelList"/>
    <dgm:cxn modelId="{AB72DB2D-54A6-402F-BA38-1EA48E96B6F4}" type="presParOf" srcId="{68A55AB0-8ACB-4369-A5CF-115CC8268B03}" destId="{D9F2169D-6F7F-4DFE-BDE4-D489A67E956B}" srcOrd="2" destOrd="0" presId="urn:microsoft.com/office/officeart/2018/2/layout/IconLabelList"/>
    <dgm:cxn modelId="{16CF836B-8D3F-400D-BC1E-7DA6CAADBE1D}" type="presParOf" srcId="{DF3E4CCD-3CD6-4DE3-AFA1-DEC99C370776}" destId="{BAD846C5-94E8-4310-B29D-A6715C64AE61}" srcOrd="3" destOrd="0" presId="urn:microsoft.com/office/officeart/2018/2/layout/IconLabelList"/>
    <dgm:cxn modelId="{EC12B1A0-E206-423C-9C52-541A297A13DD}" type="presParOf" srcId="{DF3E4CCD-3CD6-4DE3-AFA1-DEC99C370776}" destId="{918E07B1-449A-4EF5-8B05-BA6DD9CE48FC}" srcOrd="4" destOrd="0" presId="urn:microsoft.com/office/officeart/2018/2/layout/IconLabelList"/>
    <dgm:cxn modelId="{6EF86461-FAE3-4C74-BB43-E774FCBF2651}" type="presParOf" srcId="{918E07B1-449A-4EF5-8B05-BA6DD9CE48FC}" destId="{3DF926FE-F029-4586-AC7B-9620E956F2BE}" srcOrd="0" destOrd="0" presId="urn:microsoft.com/office/officeart/2018/2/layout/IconLabelList"/>
    <dgm:cxn modelId="{B250A6F9-E77B-4CFE-B867-5FC9ACE9E187}" type="presParOf" srcId="{918E07B1-449A-4EF5-8B05-BA6DD9CE48FC}" destId="{FF3E5051-5980-41FF-BC9B-3007367A0E97}" srcOrd="1" destOrd="0" presId="urn:microsoft.com/office/officeart/2018/2/layout/IconLabelList"/>
    <dgm:cxn modelId="{E6E5972E-6EFE-4641-BFB4-708419DCC545}" type="presParOf" srcId="{918E07B1-449A-4EF5-8B05-BA6DD9CE48FC}" destId="{F5619732-5100-4043-947F-64485C96E0B9}" srcOrd="2" destOrd="0" presId="urn:microsoft.com/office/officeart/2018/2/layout/IconLabelList"/>
    <dgm:cxn modelId="{13ECB02F-617D-4711-8143-F287787D7660}" type="presParOf" srcId="{DF3E4CCD-3CD6-4DE3-AFA1-DEC99C370776}" destId="{2F24C7F8-E601-48B2-9734-3374A19BEDD1}" srcOrd="5" destOrd="0" presId="urn:microsoft.com/office/officeart/2018/2/layout/IconLabelList"/>
    <dgm:cxn modelId="{B31302F0-C364-43D8-9A51-A9F9A7B2B915}" type="presParOf" srcId="{DF3E4CCD-3CD6-4DE3-AFA1-DEC99C370776}" destId="{7D101957-6953-4E5A-8279-461D89105DE1}" srcOrd="6" destOrd="0" presId="urn:microsoft.com/office/officeart/2018/2/layout/IconLabelList"/>
    <dgm:cxn modelId="{41C80794-0D01-4364-87A2-781BAD643362}" type="presParOf" srcId="{7D101957-6953-4E5A-8279-461D89105DE1}" destId="{01411487-2E52-4DFB-B601-A4D3DFB6659C}" srcOrd="0" destOrd="0" presId="urn:microsoft.com/office/officeart/2018/2/layout/IconLabelList"/>
    <dgm:cxn modelId="{BA7CF326-CB69-4BFC-92DC-F5C1DD0644EF}" type="presParOf" srcId="{7D101957-6953-4E5A-8279-461D89105DE1}" destId="{8046641C-37C2-4A09-A403-20BC0118E984}" srcOrd="1" destOrd="0" presId="urn:microsoft.com/office/officeart/2018/2/layout/IconLabelList"/>
    <dgm:cxn modelId="{426F34BA-796F-450E-A9F4-C0DDCCCC0506}" type="presParOf" srcId="{7D101957-6953-4E5A-8279-461D89105DE1}" destId="{4A8735D0-F180-4701-8A74-109C6F1DD34B}"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72DF2D-5AB6-4FC9-9D34-17F6DED3BC9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02143A3-1F14-4F8D-A40F-8348C5966E28}">
      <dgm:prSet custT="1"/>
      <dgm:spPr/>
      <dgm:t>
        <a:bodyPr/>
        <a:lstStyle/>
        <a:p>
          <a:r>
            <a:rPr lang="es-MX" sz="3600" dirty="0"/>
            <a:t>Modela desde la perspectiva del negocio</a:t>
          </a:r>
          <a:endParaRPr lang="en-US" sz="3600" dirty="0"/>
        </a:p>
      </dgm:t>
    </dgm:pt>
    <dgm:pt modelId="{0EBE5F64-E25A-41D9-9B1E-27EA017966E1}" type="parTrans" cxnId="{F8FCDA4E-ABD6-4820-A304-E3B778580B47}">
      <dgm:prSet/>
      <dgm:spPr/>
      <dgm:t>
        <a:bodyPr/>
        <a:lstStyle/>
        <a:p>
          <a:endParaRPr lang="en-US"/>
        </a:p>
      </dgm:t>
    </dgm:pt>
    <dgm:pt modelId="{70FB7FA0-621F-42C0-837B-8EB68D82D0A6}" type="sibTrans" cxnId="{F8FCDA4E-ABD6-4820-A304-E3B778580B47}">
      <dgm:prSet/>
      <dgm:spPr/>
      <dgm:t>
        <a:bodyPr/>
        <a:lstStyle/>
        <a:p>
          <a:endParaRPr lang="en-US"/>
        </a:p>
      </dgm:t>
    </dgm:pt>
    <dgm:pt modelId="{1D39434C-9D40-487E-9D73-CBA3DF243108}">
      <dgm:prSet custT="1"/>
      <dgm:spPr/>
      <dgm:t>
        <a:bodyPr/>
        <a:lstStyle/>
        <a:p>
          <a:r>
            <a:rPr lang="es-MX" sz="3600" dirty="0"/>
            <a:t>Usa nombres claros en actividades</a:t>
          </a:r>
          <a:endParaRPr lang="en-US" sz="3600" dirty="0"/>
        </a:p>
      </dgm:t>
    </dgm:pt>
    <dgm:pt modelId="{89E454D0-5B9C-4B52-9DD1-E7EA5667418A}" type="parTrans" cxnId="{26A125B2-C6B6-4378-B514-8E32971B9615}">
      <dgm:prSet/>
      <dgm:spPr/>
      <dgm:t>
        <a:bodyPr/>
        <a:lstStyle/>
        <a:p>
          <a:endParaRPr lang="en-US"/>
        </a:p>
      </dgm:t>
    </dgm:pt>
    <dgm:pt modelId="{DF4B3FC7-2C4F-461E-9448-87A3C69F7FC5}" type="sibTrans" cxnId="{26A125B2-C6B6-4378-B514-8E32971B9615}">
      <dgm:prSet/>
      <dgm:spPr/>
      <dgm:t>
        <a:bodyPr/>
        <a:lstStyle/>
        <a:p>
          <a:endParaRPr lang="en-US"/>
        </a:p>
      </dgm:t>
    </dgm:pt>
    <dgm:pt modelId="{31284271-3664-42E1-A302-178A5653EE50}">
      <dgm:prSet/>
      <dgm:spPr/>
      <dgm:t>
        <a:bodyPr/>
        <a:lstStyle/>
        <a:p>
          <a:r>
            <a:rPr lang="es-MX" dirty="0"/>
            <a:t>Evita modelos demasiado complejos</a:t>
          </a:r>
          <a:endParaRPr lang="en-US" dirty="0"/>
        </a:p>
      </dgm:t>
    </dgm:pt>
    <dgm:pt modelId="{4256738A-C21D-4510-8CC2-320D4A9D7FEE}" type="parTrans" cxnId="{760B8D09-6C11-41C6-AC09-20FC690A50AF}">
      <dgm:prSet/>
      <dgm:spPr/>
      <dgm:t>
        <a:bodyPr/>
        <a:lstStyle/>
        <a:p>
          <a:endParaRPr lang="en-US"/>
        </a:p>
      </dgm:t>
    </dgm:pt>
    <dgm:pt modelId="{A884485B-D59A-4A10-BD60-E73FF3AEBC0A}" type="sibTrans" cxnId="{760B8D09-6C11-41C6-AC09-20FC690A50AF}">
      <dgm:prSet/>
      <dgm:spPr/>
      <dgm:t>
        <a:bodyPr/>
        <a:lstStyle/>
        <a:p>
          <a:endParaRPr lang="en-US"/>
        </a:p>
      </dgm:t>
    </dgm:pt>
    <dgm:pt modelId="{69D060D5-E9D8-4F64-AC41-8BF284EAF63C}">
      <dgm:prSet custT="1"/>
      <dgm:spPr/>
      <dgm:t>
        <a:bodyPr/>
        <a:lstStyle/>
        <a:p>
          <a:r>
            <a:rPr lang="es-MX" sz="3600" dirty="0"/>
            <a:t>Usa subprocesos cuando sea necesario</a:t>
          </a:r>
          <a:endParaRPr lang="en-US" sz="3600" dirty="0"/>
        </a:p>
      </dgm:t>
    </dgm:pt>
    <dgm:pt modelId="{671E0ACD-45AB-4D28-9A72-24FB271D7DFB}" type="parTrans" cxnId="{D1BAAC17-7F06-4177-813B-63D895D175AE}">
      <dgm:prSet/>
      <dgm:spPr/>
      <dgm:t>
        <a:bodyPr/>
        <a:lstStyle/>
        <a:p>
          <a:endParaRPr lang="en-US"/>
        </a:p>
      </dgm:t>
    </dgm:pt>
    <dgm:pt modelId="{2153D99A-A86C-4854-9785-3CDFFC9E6C23}" type="sibTrans" cxnId="{D1BAAC17-7F06-4177-813B-63D895D175AE}">
      <dgm:prSet/>
      <dgm:spPr/>
      <dgm:t>
        <a:bodyPr/>
        <a:lstStyle/>
        <a:p>
          <a:endParaRPr lang="en-US"/>
        </a:p>
      </dgm:t>
    </dgm:pt>
    <dgm:pt modelId="{0D8A7814-A4D4-45F3-BBE6-D6A0E30733AF}" type="pres">
      <dgm:prSet presAssocID="{9A72DF2D-5AB6-4FC9-9D34-17F6DED3BC9B}" presName="root" presStyleCnt="0">
        <dgm:presLayoutVars>
          <dgm:dir/>
          <dgm:resizeHandles val="exact"/>
        </dgm:presLayoutVars>
      </dgm:prSet>
      <dgm:spPr/>
    </dgm:pt>
    <dgm:pt modelId="{71EA3488-9DED-4152-BE29-DACBF8F61C63}" type="pres">
      <dgm:prSet presAssocID="{802143A3-1F14-4F8D-A40F-8348C5966E28}" presName="compNode" presStyleCnt="0"/>
      <dgm:spPr/>
    </dgm:pt>
    <dgm:pt modelId="{E9D3CF12-BF7B-428D-9BD1-EB7DB720EB59}" type="pres">
      <dgm:prSet presAssocID="{802143A3-1F14-4F8D-A40F-8348C5966E2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jo"/>
        </a:ext>
      </dgm:extLst>
    </dgm:pt>
    <dgm:pt modelId="{4B30FB18-6BE9-410A-890F-748993ED832E}" type="pres">
      <dgm:prSet presAssocID="{802143A3-1F14-4F8D-A40F-8348C5966E28}" presName="spaceRect" presStyleCnt="0"/>
      <dgm:spPr/>
    </dgm:pt>
    <dgm:pt modelId="{C307DDD9-842C-4D47-8A12-9F830192970E}" type="pres">
      <dgm:prSet presAssocID="{802143A3-1F14-4F8D-A40F-8348C5966E28}" presName="textRect" presStyleLbl="revTx" presStyleIdx="0" presStyleCnt="4">
        <dgm:presLayoutVars>
          <dgm:chMax val="1"/>
          <dgm:chPref val="1"/>
        </dgm:presLayoutVars>
      </dgm:prSet>
      <dgm:spPr/>
    </dgm:pt>
    <dgm:pt modelId="{D806C09E-1F02-42AE-92E7-8C2D2BA6B363}" type="pres">
      <dgm:prSet presAssocID="{70FB7FA0-621F-42C0-837B-8EB68D82D0A6}" presName="sibTrans" presStyleCnt="0"/>
      <dgm:spPr/>
    </dgm:pt>
    <dgm:pt modelId="{0E26660B-DCEB-4D90-9E53-BF56DE95B649}" type="pres">
      <dgm:prSet presAssocID="{1D39434C-9D40-487E-9D73-CBA3DF243108}" presName="compNode" presStyleCnt="0"/>
      <dgm:spPr/>
    </dgm:pt>
    <dgm:pt modelId="{DD96F55D-75A3-41F6-A426-E938C31AAE9B}" type="pres">
      <dgm:prSet presAssocID="{1D39434C-9D40-487E-9D73-CBA3DF24310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o"/>
        </a:ext>
      </dgm:extLst>
    </dgm:pt>
    <dgm:pt modelId="{B6467523-2823-4AA0-81AE-ECAFA493C761}" type="pres">
      <dgm:prSet presAssocID="{1D39434C-9D40-487E-9D73-CBA3DF243108}" presName="spaceRect" presStyleCnt="0"/>
      <dgm:spPr/>
    </dgm:pt>
    <dgm:pt modelId="{1B777351-FF08-4091-9558-4300EBA2AB06}" type="pres">
      <dgm:prSet presAssocID="{1D39434C-9D40-487E-9D73-CBA3DF243108}" presName="textRect" presStyleLbl="revTx" presStyleIdx="1" presStyleCnt="4">
        <dgm:presLayoutVars>
          <dgm:chMax val="1"/>
          <dgm:chPref val="1"/>
        </dgm:presLayoutVars>
      </dgm:prSet>
      <dgm:spPr/>
    </dgm:pt>
    <dgm:pt modelId="{2186B5F8-997C-42BA-869D-F9AD8F7AE401}" type="pres">
      <dgm:prSet presAssocID="{DF4B3FC7-2C4F-461E-9448-87A3C69F7FC5}" presName="sibTrans" presStyleCnt="0"/>
      <dgm:spPr/>
    </dgm:pt>
    <dgm:pt modelId="{EFC44FFB-BA83-4138-8293-AE4C55058C90}" type="pres">
      <dgm:prSet presAssocID="{31284271-3664-42E1-A302-178A5653EE50}" presName="compNode" presStyleCnt="0"/>
      <dgm:spPr/>
    </dgm:pt>
    <dgm:pt modelId="{16397684-7A72-4122-8459-02A84B42A1F0}" type="pres">
      <dgm:prSet presAssocID="{31284271-3664-42E1-A302-178A5653EE5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ca de verificación"/>
        </a:ext>
      </dgm:extLst>
    </dgm:pt>
    <dgm:pt modelId="{A8C71825-AF11-46B8-A79A-4336434E746A}" type="pres">
      <dgm:prSet presAssocID="{31284271-3664-42E1-A302-178A5653EE50}" presName="spaceRect" presStyleCnt="0"/>
      <dgm:spPr/>
    </dgm:pt>
    <dgm:pt modelId="{9B2DE9B4-49E8-4A89-A92E-196161C7659B}" type="pres">
      <dgm:prSet presAssocID="{31284271-3664-42E1-A302-178A5653EE50}" presName="textRect" presStyleLbl="revTx" presStyleIdx="2" presStyleCnt="4">
        <dgm:presLayoutVars>
          <dgm:chMax val="1"/>
          <dgm:chPref val="1"/>
        </dgm:presLayoutVars>
      </dgm:prSet>
      <dgm:spPr/>
    </dgm:pt>
    <dgm:pt modelId="{61B5831E-06FE-41DD-A02A-8428801907DC}" type="pres">
      <dgm:prSet presAssocID="{A884485B-D59A-4A10-BD60-E73FF3AEBC0A}" presName="sibTrans" presStyleCnt="0"/>
      <dgm:spPr/>
    </dgm:pt>
    <dgm:pt modelId="{69892A7B-5203-4A18-8F48-068C073EE2D2}" type="pres">
      <dgm:prSet presAssocID="{69D060D5-E9D8-4F64-AC41-8BF284EAF63C}" presName="compNode" presStyleCnt="0"/>
      <dgm:spPr/>
    </dgm:pt>
    <dgm:pt modelId="{6DF04125-9EC8-4B9C-8B65-80443AF1C604}" type="pres">
      <dgm:prSet presAssocID="{69D060D5-E9D8-4F64-AC41-8BF284EAF6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twork Diagram"/>
        </a:ext>
      </dgm:extLst>
    </dgm:pt>
    <dgm:pt modelId="{BEF9CFC7-7210-4B5B-8323-09938925DDED}" type="pres">
      <dgm:prSet presAssocID="{69D060D5-E9D8-4F64-AC41-8BF284EAF63C}" presName="spaceRect" presStyleCnt="0"/>
      <dgm:spPr/>
    </dgm:pt>
    <dgm:pt modelId="{EE79033B-B9F3-4824-8CC6-2D48935B9133}" type="pres">
      <dgm:prSet presAssocID="{69D060D5-E9D8-4F64-AC41-8BF284EAF63C}" presName="textRect" presStyleLbl="revTx" presStyleIdx="3" presStyleCnt="4">
        <dgm:presLayoutVars>
          <dgm:chMax val="1"/>
          <dgm:chPref val="1"/>
        </dgm:presLayoutVars>
      </dgm:prSet>
      <dgm:spPr/>
    </dgm:pt>
  </dgm:ptLst>
  <dgm:cxnLst>
    <dgm:cxn modelId="{9C937D09-2C01-46DC-8100-0E1184E190CD}" type="presOf" srcId="{31284271-3664-42E1-A302-178A5653EE50}" destId="{9B2DE9B4-49E8-4A89-A92E-196161C7659B}" srcOrd="0" destOrd="0" presId="urn:microsoft.com/office/officeart/2018/2/layout/IconLabelList"/>
    <dgm:cxn modelId="{760B8D09-6C11-41C6-AC09-20FC690A50AF}" srcId="{9A72DF2D-5AB6-4FC9-9D34-17F6DED3BC9B}" destId="{31284271-3664-42E1-A302-178A5653EE50}" srcOrd="2" destOrd="0" parTransId="{4256738A-C21D-4510-8CC2-320D4A9D7FEE}" sibTransId="{A884485B-D59A-4A10-BD60-E73FF3AEBC0A}"/>
    <dgm:cxn modelId="{D1BAAC17-7F06-4177-813B-63D895D175AE}" srcId="{9A72DF2D-5AB6-4FC9-9D34-17F6DED3BC9B}" destId="{69D060D5-E9D8-4F64-AC41-8BF284EAF63C}" srcOrd="3" destOrd="0" parTransId="{671E0ACD-45AB-4D28-9A72-24FB271D7DFB}" sibTransId="{2153D99A-A86C-4854-9785-3CDFFC9E6C23}"/>
    <dgm:cxn modelId="{5ED7D967-4639-4F34-82F4-9B53E7583D28}" type="presOf" srcId="{69D060D5-E9D8-4F64-AC41-8BF284EAF63C}" destId="{EE79033B-B9F3-4824-8CC6-2D48935B9133}" srcOrd="0" destOrd="0" presId="urn:microsoft.com/office/officeart/2018/2/layout/IconLabelList"/>
    <dgm:cxn modelId="{676BEF48-977C-4CD5-98FA-0C62F52361A5}" type="presOf" srcId="{802143A3-1F14-4F8D-A40F-8348C5966E28}" destId="{C307DDD9-842C-4D47-8A12-9F830192970E}" srcOrd="0" destOrd="0" presId="urn:microsoft.com/office/officeart/2018/2/layout/IconLabelList"/>
    <dgm:cxn modelId="{F8FCDA4E-ABD6-4820-A304-E3B778580B47}" srcId="{9A72DF2D-5AB6-4FC9-9D34-17F6DED3BC9B}" destId="{802143A3-1F14-4F8D-A40F-8348C5966E28}" srcOrd="0" destOrd="0" parTransId="{0EBE5F64-E25A-41D9-9B1E-27EA017966E1}" sibTransId="{70FB7FA0-621F-42C0-837B-8EB68D82D0A6}"/>
    <dgm:cxn modelId="{20923289-22E0-47AC-92B8-CABE8AC2E09A}" type="presOf" srcId="{9A72DF2D-5AB6-4FC9-9D34-17F6DED3BC9B}" destId="{0D8A7814-A4D4-45F3-BBE6-D6A0E30733AF}" srcOrd="0" destOrd="0" presId="urn:microsoft.com/office/officeart/2018/2/layout/IconLabelList"/>
    <dgm:cxn modelId="{E1095FA0-2166-47EB-9DC9-1B51D54A14EB}" type="presOf" srcId="{1D39434C-9D40-487E-9D73-CBA3DF243108}" destId="{1B777351-FF08-4091-9558-4300EBA2AB06}" srcOrd="0" destOrd="0" presId="urn:microsoft.com/office/officeart/2018/2/layout/IconLabelList"/>
    <dgm:cxn modelId="{26A125B2-C6B6-4378-B514-8E32971B9615}" srcId="{9A72DF2D-5AB6-4FC9-9D34-17F6DED3BC9B}" destId="{1D39434C-9D40-487E-9D73-CBA3DF243108}" srcOrd="1" destOrd="0" parTransId="{89E454D0-5B9C-4B52-9DD1-E7EA5667418A}" sibTransId="{DF4B3FC7-2C4F-461E-9448-87A3C69F7FC5}"/>
    <dgm:cxn modelId="{9E5739F7-1844-4D18-B1F1-D4AB42C4F5D0}" type="presParOf" srcId="{0D8A7814-A4D4-45F3-BBE6-D6A0E30733AF}" destId="{71EA3488-9DED-4152-BE29-DACBF8F61C63}" srcOrd="0" destOrd="0" presId="urn:microsoft.com/office/officeart/2018/2/layout/IconLabelList"/>
    <dgm:cxn modelId="{42BD0902-B1DB-4A2E-A5B9-894C5DD5A769}" type="presParOf" srcId="{71EA3488-9DED-4152-BE29-DACBF8F61C63}" destId="{E9D3CF12-BF7B-428D-9BD1-EB7DB720EB59}" srcOrd="0" destOrd="0" presId="urn:microsoft.com/office/officeart/2018/2/layout/IconLabelList"/>
    <dgm:cxn modelId="{96838BC2-E4DE-4550-AFF4-2A184E9AA4D8}" type="presParOf" srcId="{71EA3488-9DED-4152-BE29-DACBF8F61C63}" destId="{4B30FB18-6BE9-410A-890F-748993ED832E}" srcOrd="1" destOrd="0" presId="urn:microsoft.com/office/officeart/2018/2/layout/IconLabelList"/>
    <dgm:cxn modelId="{1284A4C9-EA58-4E2B-9C43-534C673A52DD}" type="presParOf" srcId="{71EA3488-9DED-4152-BE29-DACBF8F61C63}" destId="{C307DDD9-842C-4D47-8A12-9F830192970E}" srcOrd="2" destOrd="0" presId="urn:microsoft.com/office/officeart/2018/2/layout/IconLabelList"/>
    <dgm:cxn modelId="{F0B702D5-EF1B-49BB-A08B-C8CC1995A6E9}" type="presParOf" srcId="{0D8A7814-A4D4-45F3-BBE6-D6A0E30733AF}" destId="{D806C09E-1F02-42AE-92E7-8C2D2BA6B363}" srcOrd="1" destOrd="0" presId="urn:microsoft.com/office/officeart/2018/2/layout/IconLabelList"/>
    <dgm:cxn modelId="{FBD6241E-4C2B-460F-A1FC-86EDEA4AC80F}" type="presParOf" srcId="{0D8A7814-A4D4-45F3-BBE6-D6A0E30733AF}" destId="{0E26660B-DCEB-4D90-9E53-BF56DE95B649}" srcOrd="2" destOrd="0" presId="urn:microsoft.com/office/officeart/2018/2/layout/IconLabelList"/>
    <dgm:cxn modelId="{77984EF4-FC59-4F69-99F3-AAAFCDFCF902}" type="presParOf" srcId="{0E26660B-DCEB-4D90-9E53-BF56DE95B649}" destId="{DD96F55D-75A3-41F6-A426-E938C31AAE9B}" srcOrd="0" destOrd="0" presId="urn:microsoft.com/office/officeart/2018/2/layout/IconLabelList"/>
    <dgm:cxn modelId="{4C9850B9-6CB8-4B62-82CF-B3DB9AD062AA}" type="presParOf" srcId="{0E26660B-DCEB-4D90-9E53-BF56DE95B649}" destId="{B6467523-2823-4AA0-81AE-ECAFA493C761}" srcOrd="1" destOrd="0" presId="urn:microsoft.com/office/officeart/2018/2/layout/IconLabelList"/>
    <dgm:cxn modelId="{6795CBA1-1A9A-4EC1-A1C8-9DC8C3D69B77}" type="presParOf" srcId="{0E26660B-DCEB-4D90-9E53-BF56DE95B649}" destId="{1B777351-FF08-4091-9558-4300EBA2AB06}" srcOrd="2" destOrd="0" presId="urn:microsoft.com/office/officeart/2018/2/layout/IconLabelList"/>
    <dgm:cxn modelId="{013E5244-0525-4F77-889C-3350CA8EC656}" type="presParOf" srcId="{0D8A7814-A4D4-45F3-BBE6-D6A0E30733AF}" destId="{2186B5F8-997C-42BA-869D-F9AD8F7AE401}" srcOrd="3" destOrd="0" presId="urn:microsoft.com/office/officeart/2018/2/layout/IconLabelList"/>
    <dgm:cxn modelId="{9F8D10E8-7757-4CB8-A967-DCF777E27507}" type="presParOf" srcId="{0D8A7814-A4D4-45F3-BBE6-D6A0E30733AF}" destId="{EFC44FFB-BA83-4138-8293-AE4C55058C90}" srcOrd="4" destOrd="0" presId="urn:microsoft.com/office/officeart/2018/2/layout/IconLabelList"/>
    <dgm:cxn modelId="{A366E607-CA45-489D-A939-533038B36735}" type="presParOf" srcId="{EFC44FFB-BA83-4138-8293-AE4C55058C90}" destId="{16397684-7A72-4122-8459-02A84B42A1F0}" srcOrd="0" destOrd="0" presId="urn:microsoft.com/office/officeart/2018/2/layout/IconLabelList"/>
    <dgm:cxn modelId="{E413EEB3-03CE-400F-8D55-E6C2D4C88F12}" type="presParOf" srcId="{EFC44FFB-BA83-4138-8293-AE4C55058C90}" destId="{A8C71825-AF11-46B8-A79A-4336434E746A}" srcOrd="1" destOrd="0" presId="urn:microsoft.com/office/officeart/2018/2/layout/IconLabelList"/>
    <dgm:cxn modelId="{94B21978-FCBD-4CE1-8EFC-FA24DB43F535}" type="presParOf" srcId="{EFC44FFB-BA83-4138-8293-AE4C55058C90}" destId="{9B2DE9B4-49E8-4A89-A92E-196161C7659B}" srcOrd="2" destOrd="0" presId="urn:microsoft.com/office/officeart/2018/2/layout/IconLabelList"/>
    <dgm:cxn modelId="{5EC156BB-0FBE-4D83-993F-69C1937D4D17}" type="presParOf" srcId="{0D8A7814-A4D4-45F3-BBE6-D6A0E30733AF}" destId="{61B5831E-06FE-41DD-A02A-8428801907DC}" srcOrd="5" destOrd="0" presId="urn:microsoft.com/office/officeart/2018/2/layout/IconLabelList"/>
    <dgm:cxn modelId="{CD500F32-B4C1-4C6D-89A0-8E3C37B5D0DC}" type="presParOf" srcId="{0D8A7814-A4D4-45F3-BBE6-D6A0E30733AF}" destId="{69892A7B-5203-4A18-8F48-068C073EE2D2}" srcOrd="6" destOrd="0" presId="urn:microsoft.com/office/officeart/2018/2/layout/IconLabelList"/>
    <dgm:cxn modelId="{592A27F1-045F-405A-8830-D8B5263BE457}" type="presParOf" srcId="{69892A7B-5203-4A18-8F48-068C073EE2D2}" destId="{6DF04125-9EC8-4B9C-8B65-80443AF1C604}" srcOrd="0" destOrd="0" presId="urn:microsoft.com/office/officeart/2018/2/layout/IconLabelList"/>
    <dgm:cxn modelId="{7C1F04DF-C3A8-4AD8-93D6-7677C8FBFFFC}" type="presParOf" srcId="{69892A7B-5203-4A18-8F48-068C073EE2D2}" destId="{BEF9CFC7-7210-4B5B-8323-09938925DDED}" srcOrd="1" destOrd="0" presId="urn:microsoft.com/office/officeart/2018/2/layout/IconLabelList"/>
    <dgm:cxn modelId="{E354C2F3-1E92-4971-AE56-B9CA7DCF2005}" type="presParOf" srcId="{69892A7B-5203-4A18-8F48-068C073EE2D2}" destId="{EE79033B-B9F3-4824-8CC6-2D48935B913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1792E-878D-48FC-9C31-DDCE1E16236D}">
      <dsp:nvSpPr>
        <dsp:cNvPr id="0" name=""/>
        <dsp:cNvSpPr/>
      </dsp:nvSpPr>
      <dsp:spPr>
        <a:xfrm>
          <a:off x="1303883" y="696317"/>
          <a:ext cx="1700247" cy="1700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C55258-29A5-4D66-8AA3-0C357295FBE9}">
      <dsp:nvSpPr>
        <dsp:cNvPr id="0" name=""/>
        <dsp:cNvSpPr/>
      </dsp:nvSpPr>
      <dsp:spPr>
        <a:xfrm>
          <a:off x="264843" y="2831739"/>
          <a:ext cx="3778327"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419" sz="2400" kern="1200" dirty="0"/>
            <a:t>Optimizar y rediseñar procesos existentes.</a:t>
          </a:r>
          <a:endParaRPr lang="es-419" sz="2400" kern="1200" noProof="0" dirty="0"/>
        </a:p>
      </dsp:txBody>
      <dsp:txXfrm>
        <a:off x="264843" y="2831739"/>
        <a:ext cx="3778327" cy="765000"/>
      </dsp:txXfrm>
    </dsp:sp>
    <dsp:sp modelId="{90C1DEFA-2B62-47FE-B06F-2F8A21A15AA2}">
      <dsp:nvSpPr>
        <dsp:cNvPr id="0" name=""/>
        <dsp:cNvSpPr/>
      </dsp:nvSpPr>
      <dsp:spPr>
        <a:xfrm>
          <a:off x="5743417" y="696317"/>
          <a:ext cx="1700247" cy="1700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F2169D-6F7F-4DFE-BDE4-D489A67E956B}">
      <dsp:nvSpPr>
        <dsp:cNvPr id="0" name=""/>
        <dsp:cNvSpPr/>
      </dsp:nvSpPr>
      <dsp:spPr>
        <a:xfrm>
          <a:off x="4704377" y="2831739"/>
          <a:ext cx="3778327"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419" sz="2400" kern="1200" dirty="0"/>
            <a:t>Identificar pasos innecesarios o repetitivos.</a:t>
          </a:r>
          <a:endParaRPr lang="en-US" sz="2400" kern="1200" dirty="0"/>
        </a:p>
      </dsp:txBody>
      <dsp:txXfrm>
        <a:off x="4704377" y="2831739"/>
        <a:ext cx="3778327" cy="765000"/>
      </dsp:txXfrm>
    </dsp:sp>
    <dsp:sp modelId="{3DF926FE-F029-4586-AC7B-9620E956F2BE}">
      <dsp:nvSpPr>
        <dsp:cNvPr id="0" name=""/>
        <dsp:cNvSpPr/>
      </dsp:nvSpPr>
      <dsp:spPr>
        <a:xfrm>
          <a:off x="10182952" y="696317"/>
          <a:ext cx="1700247" cy="1700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619732-5100-4043-947F-64485C96E0B9}">
      <dsp:nvSpPr>
        <dsp:cNvPr id="0" name=""/>
        <dsp:cNvSpPr/>
      </dsp:nvSpPr>
      <dsp:spPr>
        <a:xfrm>
          <a:off x="9143912" y="2831739"/>
          <a:ext cx="3778327"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419" sz="2400" kern="1200" dirty="0"/>
            <a:t>Comunicar con claridad reglas de negocio.</a:t>
          </a:r>
          <a:endParaRPr lang="en-US" sz="2400" kern="1200" dirty="0"/>
        </a:p>
      </dsp:txBody>
      <dsp:txXfrm>
        <a:off x="9143912" y="2831739"/>
        <a:ext cx="3778327" cy="765000"/>
      </dsp:txXfrm>
    </dsp:sp>
    <dsp:sp modelId="{01411487-2E52-4DFB-B601-A4D3DFB6659C}">
      <dsp:nvSpPr>
        <dsp:cNvPr id="0" name=""/>
        <dsp:cNvSpPr/>
      </dsp:nvSpPr>
      <dsp:spPr>
        <a:xfrm>
          <a:off x="14622486" y="696317"/>
          <a:ext cx="1700247" cy="17002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8735D0-F180-4701-8A74-109C6F1DD34B}">
      <dsp:nvSpPr>
        <dsp:cNvPr id="0" name=""/>
        <dsp:cNvSpPr/>
      </dsp:nvSpPr>
      <dsp:spPr>
        <a:xfrm>
          <a:off x="13583446" y="2831739"/>
          <a:ext cx="3778327"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419" sz="2400" kern="1200" dirty="0"/>
            <a:t>Apoyar la implementación de herramientas BPM o RPA.</a:t>
          </a:r>
          <a:endParaRPr lang="en-US" sz="2400" kern="1200" dirty="0"/>
        </a:p>
      </dsp:txBody>
      <dsp:txXfrm>
        <a:off x="13583446" y="2831739"/>
        <a:ext cx="3778327" cy="76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3CF12-BF7B-428D-9BD1-EB7DB720EB59}">
      <dsp:nvSpPr>
        <dsp:cNvPr id="0" name=""/>
        <dsp:cNvSpPr/>
      </dsp:nvSpPr>
      <dsp:spPr>
        <a:xfrm>
          <a:off x="1367584" y="1043451"/>
          <a:ext cx="1714490" cy="17144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07DDD9-842C-4D47-8A12-9F830192970E}">
      <dsp:nvSpPr>
        <dsp:cNvPr id="0" name=""/>
        <dsp:cNvSpPr/>
      </dsp:nvSpPr>
      <dsp:spPr>
        <a:xfrm>
          <a:off x="319839" y="3330844"/>
          <a:ext cx="3809979"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s-MX" sz="3600" kern="1200" dirty="0"/>
            <a:t>Modela desde la perspectiva del negocio</a:t>
          </a:r>
          <a:endParaRPr lang="en-US" sz="3600" kern="1200" dirty="0"/>
        </a:p>
      </dsp:txBody>
      <dsp:txXfrm>
        <a:off x="319839" y="3330844"/>
        <a:ext cx="3809979" cy="1530000"/>
      </dsp:txXfrm>
    </dsp:sp>
    <dsp:sp modelId="{DD96F55D-75A3-41F6-A426-E938C31AAE9B}">
      <dsp:nvSpPr>
        <dsp:cNvPr id="0" name=""/>
        <dsp:cNvSpPr/>
      </dsp:nvSpPr>
      <dsp:spPr>
        <a:xfrm>
          <a:off x="5844310" y="1043451"/>
          <a:ext cx="1714490" cy="17144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777351-FF08-4091-9558-4300EBA2AB06}">
      <dsp:nvSpPr>
        <dsp:cNvPr id="0" name=""/>
        <dsp:cNvSpPr/>
      </dsp:nvSpPr>
      <dsp:spPr>
        <a:xfrm>
          <a:off x="4796566" y="3330844"/>
          <a:ext cx="3809979"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s-MX" sz="3600" kern="1200" dirty="0"/>
            <a:t>Usa nombres claros en actividades</a:t>
          </a:r>
          <a:endParaRPr lang="en-US" sz="3600" kern="1200" dirty="0"/>
        </a:p>
      </dsp:txBody>
      <dsp:txXfrm>
        <a:off x="4796566" y="3330844"/>
        <a:ext cx="3809979" cy="1530000"/>
      </dsp:txXfrm>
    </dsp:sp>
    <dsp:sp modelId="{16397684-7A72-4122-8459-02A84B42A1F0}">
      <dsp:nvSpPr>
        <dsp:cNvPr id="0" name=""/>
        <dsp:cNvSpPr/>
      </dsp:nvSpPr>
      <dsp:spPr>
        <a:xfrm>
          <a:off x="10321036" y="1043451"/>
          <a:ext cx="1714490" cy="17144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2DE9B4-49E8-4A89-A92E-196161C7659B}">
      <dsp:nvSpPr>
        <dsp:cNvPr id="0" name=""/>
        <dsp:cNvSpPr/>
      </dsp:nvSpPr>
      <dsp:spPr>
        <a:xfrm>
          <a:off x="9273292" y="3330844"/>
          <a:ext cx="3809979"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s-MX" sz="3600" kern="1200" dirty="0"/>
            <a:t>Evita modelos demasiado complejos</a:t>
          </a:r>
          <a:endParaRPr lang="en-US" sz="3600" kern="1200" dirty="0"/>
        </a:p>
      </dsp:txBody>
      <dsp:txXfrm>
        <a:off x="9273292" y="3330844"/>
        <a:ext cx="3809979" cy="1530000"/>
      </dsp:txXfrm>
    </dsp:sp>
    <dsp:sp modelId="{6DF04125-9EC8-4B9C-8B65-80443AF1C604}">
      <dsp:nvSpPr>
        <dsp:cNvPr id="0" name=""/>
        <dsp:cNvSpPr/>
      </dsp:nvSpPr>
      <dsp:spPr>
        <a:xfrm>
          <a:off x="14797762" y="1043451"/>
          <a:ext cx="1714490" cy="17144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79033B-B9F3-4824-8CC6-2D48935B9133}">
      <dsp:nvSpPr>
        <dsp:cNvPr id="0" name=""/>
        <dsp:cNvSpPr/>
      </dsp:nvSpPr>
      <dsp:spPr>
        <a:xfrm>
          <a:off x="13750018" y="3330844"/>
          <a:ext cx="3809979"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s-MX" sz="3600" kern="1200" dirty="0"/>
            <a:t>Usa subprocesos cuando sea necesario</a:t>
          </a:r>
          <a:endParaRPr lang="en-US" sz="3600" kern="1200" dirty="0"/>
        </a:p>
      </dsp:txBody>
      <dsp:txXfrm>
        <a:off x="13750018" y="3330844"/>
        <a:ext cx="3809979" cy="153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B314465-A6D8-46E1-A156-3366AE4687AA}" type="datetimeFigureOut">
              <a:rPr lang="es-419" smtClean="0"/>
              <a:t>1/8/2025</a:t>
            </a:fld>
            <a:endParaRPr lang="es-419"/>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603D264-431E-4A1C-BD47-693DAA8E5080}" type="slidenum">
              <a:rPr lang="es-419" smtClean="0"/>
              <a:t>‹Nº›</a:t>
            </a:fld>
            <a:endParaRPr lang="es-419"/>
          </a:p>
        </p:txBody>
      </p:sp>
    </p:spTree>
    <p:extLst>
      <p:ext uri="{BB962C8B-B14F-4D97-AF65-F5344CB8AC3E}">
        <p14:creationId xmlns:p14="http://schemas.microsoft.com/office/powerpoint/2010/main" val="3733990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00" b="0" i="0">
                <a:solidFill>
                  <a:schemeClr val="bg1"/>
                </a:solidFill>
                <a:latin typeface="Arial"/>
                <a:cs typeface="Arial"/>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17995" y="6642519"/>
            <a:ext cx="19468109" cy="1282065"/>
          </a:xfrm>
          <a:prstGeom prst="rect">
            <a:avLst/>
          </a:prstGeom>
        </p:spPr>
        <p:txBody>
          <a:bodyPr wrap="square" lIns="0" tIns="0" rIns="0" bIns="0">
            <a:spAutoFit/>
          </a:bodyPr>
          <a:lstStyle>
            <a:lvl1pPr>
              <a:defRPr sz="4100" b="0" i="0">
                <a:solidFill>
                  <a:schemeClr val="bg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6.png"/><Relationship Id="rId7" Type="http://schemas.openxmlformats.org/officeDocument/2006/relationships/diagramData" Target="../diagrams/data1.xml"/><Relationship Id="rId8" Type="http://schemas.openxmlformats.org/officeDocument/2006/relationships/diagramLayout" Target="../diagrams/layout1.xml"/><Relationship Id="rId9" Type="http://schemas.openxmlformats.org/officeDocument/2006/relationships/diagramQuickStyle" Target="../diagrams/quickStyle1.xml"/><Relationship Id="rId10" Type="http://schemas.openxmlformats.org/officeDocument/2006/relationships/diagramColors" Target="../diagrams/colors1.xml"/><Relationship Id="rId11"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6.png"/><Relationship Id="rId4" Type="http://schemas.openxmlformats.org/officeDocument/2006/relationships/image" Target="../media/image27.jp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jp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0.png"/><Relationship Id="rId6" Type="http://schemas.openxmlformats.org/officeDocument/2006/relationships/image" Target="../media/image26.png"/><Relationship Id="rId7"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jp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0.png"/><Relationship Id="rId6" Type="http://schemas.openxmlformats.org/officeDocument/2006/relationships/image" Target="../media/image26.png"/><Relationship Id="rId7"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6.png"/><Relationship Id="rId4" Type="http://schemas.openxmlformats.org/officeDocument/2006/relationships/image" Target="../media/image27.jp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bpmn_step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bpmn_step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bpmn_step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bpmn_step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52.jp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6.png"/><Relationship Id="rId7" Type="http://schemas.openxmlformats.org/officeDocument/2006/relationships/image" Target="../media/image59.png"/><Relationship Id="rId8" Type="http://schemas.openxmlformats.org/officeDocument/2006/relationships/image" Target="../media/image60.jpeg"/><Relationship Id="rId9" Type="http://schemas.openxmlformats.org/officeDocument/2006/relationships/image" Target="../media/image61.png"/><Relationship Id="rId10" Type="http://schemas.openxmlformats.org/officeDocument/2006/relationships/image" Target="../media/image6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png"/><Relationship Id="rId6" Type="http://schemas.openxmlformats.org/officeDocument/2006/relationships/image" Target="../media/image6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6.png"/><Relationship Id="rId6" Type="http://schemas.openxmlformats.org/officeDocument/2006/relationships/hyperlink" Target="https://astahblog.com/2020/05/29/bpmn-look-and-fee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0.png"/><Relationship Id="rId3"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099" cy="11308556"/>
          </a:xfrm>
          <a:prstGeom prst="rect">
            <a:avLst/>
          </a:prstGeom>
          <a:blipFill>
            <a:blip r:embed="rId3" cstate="print"/>
            <a:stretch>
              <a:fillRect/>
            </a:stretch>
          </a:blipFill>
        </p:spPr>
        <p:txBody>
          <a:bodyPr wrap="square" lIns="0" tIns="0" rIns="0" bIns="0" rtlCol="0"/>
          <a:lstStyle/>
          <a:p>
            <a:endParaRPr dirty="0"/>
          </a:p>
        </p:txBody>
      </p:sp>
      <p:sp>
        <p:nvSpPr>
          <p:cNvPr id="3" name="object 3"/>
          <p:cNvSpPr/>
          <p:nvPr/>
        </p:nvSpPr>
        <p:spPr>
          <a:xfrm>
            <a:off x="14322897" y="8422452"/>
            <a:ext cx="5781675" cy="2183130"/>
          </a:xfrm>
          <a:custGeom>
            <a:avLst/>
            <a:gdLst/>
            <a:ahLst/>
            <a:cxnLst/>
            <a:rect l="l" t="t" r="r" b="b"/>
            <a:pathLst>
              <a:path w="5781675" h="2183129">
                <a:moveTo>
                  <a:pt x="5781195" y="0"/>
                </a:moveTo>
                <a:lnTo>
                  <a:pt x="0" y="0"/>
                </a:lnTo>
                <a:lnTo>
                  <a:pt x="188475" y="2182875"/>
                </a:lnTo>
                <a:lnTo>
                  <a:pt x="5781195" y="2182875"/>
                </a:lnTo>
                <a:lnTo>
                  <a:pt x="5781195" y="0"/>
                </a:lnTo>
                <a:close/>
              </a:path>
            </a:pathLst>
          </a:custGeom>
          <a:solidFill>
            <a:srgbClr val="1F3D6F"/>
          </a:solidFill>
        </p:spPr>
        <p:txBody>
          <a:bodyPr wrap="square" lIns="0" tIns="0" rIns="0" bIns="0" rtlCol="0"/>
          <a:lstStyle/>
          <a:p>
            <a:endParaRPr/>
          </a:p>
        </p:txBody>
      </p:sp>
      <p:sp>
        <p:nvSpPr>
          <p:cNvPr id="18" name="object 18"/>
          <p:cNvSpPr/>
          <p:nvPr/>
        </p:nvSpPr>
        <p:spPr>
          <a:xfrm>
            <a:off x="427651" y="10541473"/>
            <a:ext cx="117550" cy="252756"/>
          </a:xfrm>
          <a:prstGeom prst="rect">
            <a:avLst/>
          </a:prstGeom>
          <a:blipFill>
            <a:blip r:embed="rId4" cstate="print"/>
            <a:stretch>
              <a:fillRect/>
            </a:stretch>
          </a:blipFill>
        </p:spPr>
        <p:txBody>
          <a:bodyPr wrap="square" lIns="0" tIns="0" rIns="0" bIns="0" rtlCol="0"/>
          <a:lstStyle/>
          <a:p>
            <a:endParaRPr/>
          </a:p>
        </p:txBody>
      </p:sp>
      <p:sp>
        <p:nvSpPr>
          <p:cNvPr id="19" name="object 19"/>
          <p:cNvSpPr/>
          <p:nvPr/>
        </p:nvSpPr>
        <p:spPr>
          <a:xfrm>
            <a:off x="429400" y="10511800"/>
            <a:ext cx="114300" cy="0"/>
          </a:xfrm>
          <a:custGeom>
            <a:avLst/>
            <a:gdLst/>
            <a:ahLst/>
            <a:cxnLst/>
            <a:rect l="l" t="t" r="r" b="b"/>
            <a:pathLst>
              <a:path w="114300">
                <a:moveTo>
                  <a:pt x="0" y="0"/>
                </a:moveTo>
                <a:lnTo>
                  <a:pt x="113766" y="0"/>
                </a:lnTo>
              </a:path>
            </a:pathLst>
          </a:custGeom>
          <a:ln w="16261">
            <a:solidFill>
              <a:srgbClr val="FFFFFF"/>
            </a:solidFill>
          </a:ln>
        </p:spPr>
        <p:txBody>
          <a:bodyPr wrap="square" lIns="0" tIns="0" rIns="0" bIns="0" rtlCol="0"/>
          <a:lstStyle/>
          <a:p>
            <a:endParaRPr/>
          </a:p>
        </p:txBody>
      </p:sp>
      <p:sp>
        <p:nvSpPr>
          <p:cNvPr id="20" name="object 20"/>
          <p:cNvSpPr/>
          <p:nvPr/>
        </p:nvSpPr>
        <p:spPr>
          <a:xfrm>
            <a:off x="429394" y="10075174"/>
            <a:ext cx="113778" cy="403115"/>
          </a:xfrm>
          <a:prstGeom prst="rect">
            <a:avLst/>
          </a:prstGeom>
          <a:blipFill>
            <a:blip r:embed="rId5" cstate="print"/>
            <a:stretch>
              <a:fillRect/>
            </a:stretch>
          </a:blipFill>
        </p:spPr>
        <p:txBody>
          <a:bodyPr wrap="square" lIns="0" tIns="0" rIns="0" bIns="0" rtlCol="0"/>
          <a:lstStyle/>
          <a:p>
            <a:endParaRPr/>
          </a:p>
        </p:txBody>
      </p:sp>
      <p:sp>
        <p:nvSpPr>
          <p:cNvPr id="21" name="object 21"/>
          <p:cNvSpPr/>
          <p:nvPr/>
        </p:nvSpPr>
        <p:spPr>
          <a:xfrm>
            <a:off x="429403" y="9902284"/>
            <a:ext cx="113766" cy="123451"/>
          </a:xfrm>
          <a:prstGeom prst="rect">
            <a:avLst/>
          </a:prstGeom>
          <a:blipFill>
            <a:blip r:embed="rId6" cstate="print"/>
            <a:stretch>
              <a:fillRect/>
            </a:stretch>
          </a:blipFill>
        </p:spPr>
        <p:txBody>
          <a:bodyPr wrap="square" lIns="0" tIns="0" rIns="0" bIns="0" rtlCol="0"/>
          <a:lstStyle/>
          <a:p>
            <a:endParaRPr/>
          </a:p>
        </p:txBody>
      </p:sp>
      <p:sp>
        <p:nvSpPr>
          <p:cNvPr id="22" name="object 22"/>
          <p:cNvSpPr/>
          <p:nvPr/>
        </p:nvSpPr>
        <p:spPr>
          <a:xfrm>
            <a:off x="429400" y="9864511"/>
            <a:ext cx="114300" cy="0"/>
          </a:xfrm>
          <a:custGeom>
            <a:avLst/>
            <a:gdLst/>
            <a:ahLst/>
            <a:cxnLst/>
            <a:rect l="l" t="t" r="r" b="b"/>
            <a:pathLst>
              <a:path w="114300">
                <a:moveTo>
                  <a:pt x="0" y="0"/>
                </a:moveTo>
                <a:lnTo>
                  <a:pt x="113766" y="0"/>
                </a:lnTo>
              </a:path>
            </a:pathLst>
          </a:custGeom>
          <a:ln w="29349">
            <a:solidFill>
              <a:srgbClr val="FFFFFF"/>
            </a:solidFill>
          </a:ln>
        </p:spPr>
        <p:txBody>
          <a:bodyPr wrap="square" lIns="0" tIns="0" rIns="0" bIns="0" rtlCol="0"/>
          <a:lstStyle/>
          <a:p>
            <a:endParaRPr/>
          </a:p>
        </p:txBody>
      </p:sp>
      <p:sp>
        <p:nvSpPr>
          <p:cNvPr id="23" name="object 23"/>
          <p:cNvSpPr/>
          <p:nvPr/>
        </p:nvSpPr>
        <p:spPr>
          <a:xfrm>
            <a:off x="429396" y="9712807"/>
            <a:ext cx="113776" cy="114090"/>
          </a:xfrm>
          <a:prstGeom prst="rect">
            <a:avLst/>
          </a:prstGeom>
          <a:blipFill>
            <a:blip r:embed="rId7" cstate="print"/>
            <a:stretch>
              <a:fillRect/>
            </a:stretch>
          </a:blipFill>
        </p:spPr>
        <p:txBody>
          <a:bodyPr wrap="square" lIns="0" tIns="0" rIns="0" bIns="0" rtlCol="0"/>
          <a:lstStyle/>
          <a:p>
            <a:endParaRPr/>
          </a:p>
        </p:txBody>
      </p:sp>
      <p:sp>
        <p:nvSpPr>
          <p:cNvPr id="24" name="object 24"/>
          <p:cNvSpPr/>
          <p:nvPr/>
        </p:nvSpPr>
        <p:spPr>
          <a:xfrm>
            <a:off x="429403" y="9676555"/>
            <a:ext cx="114300" cy="0"/>
          </a:xfrm>
          <a:custGeom>
            <a:avLst/>
            <a:gdLst/>
            <a:ahLst/>
            <a:cxnLst/>
            <a:rect l="l" t="t" r="r" b="b"/>
            <a:pathLst>
              <a:path w="114300">
                <a:moveTo>
                  <a:pt x="0" y="0"/>
                </a:moveTo>
                <a:lnTo>
                  <a:pt x="113766" y="0"/>
                </a:lnTo>
              </a:path>
            </a:pathLst>
          </a:custGeom>
          <a:ln w="27939">
            <a:solidFill>
              <a:srgbClr val="FFFFFF"/>
            </a:solidFill>
          </a:ln>
        </p:spPr>
        <p:txBody>
          <a:bodyPr wrap="square" lIns="0" tIns="0" rIns="0" bIns="0" rtlCol="0"/>
          <a:lstStyle/>
          <a:p>
            <a:endParaRPr/>
          </a:p>
        </p:txBody>
      </p:sp>
      <p:sp>
        <p:nvSpPr>
          <p:cNvPr id="25" name="object 25"/>
          <p:cNvSpPr/>
          <p:nvPr/>
        </p:nvSpPr>
        <p:spPr>
          <a:xfrm>
            <a:off x="429403" y="9614324"/>
            <a:ext cx="21590" cy="48260"/>
          </a:xfrm>
          <a:custGeom>
            <a:avLst/>
            <a:gdLst/>
            <a:ahLst/>
            <a:cxnLst/>
            <a:rect l="l" t="t" r="r" b="b"/>
            <a:pathLst>
              <a:path w="21590" h="48259">
                <a:moveTo>
                  <a:pt x="0" y="48259"/>
                </a:moveTo>
                <a:lnTo>
                  <a:pt x="20973" y="48259"/>
                </a:lnTo>
                <a:lnTo>
                  <a:pt x="20973" y="0"/>
                </a:lnTo>
                <a:lnTo>
                  <a:pt x="0" y="0"/>
                </a:lnTo>
                <a:lnTo>
                  <a:pt x="0" y="48259"/>
                </a:lnTo>
                <a:close/>
              </a:path>
            </a:pathLst>
          </a:custGeom>
          <a:solidFill>
            <a:srgbClr val="FFFFFF"/>
          </a:solidFill>
        </p:spPr>
        <p:txBody>
          <a:bodyPr wrap="square" lIns="0" tIns="0" rIns="0" bIns="0" rtlCol="0"/>
          <a:lstStyle/>
          <a:p>
            <a:endParaRPr/>
          </a:p>
        </p:txBody>
      </p:sp>
      <p:sp>
        <p:nvSpPr>
          <p:cNvPr id="26" name="object 26"/>
          <p:cNvSpPr/>
          <p:nvPr/>
        </p:nvSpPr>
        <p:spPr>
          <a:xfrm>
            <a:off x="473559" y="9616600"/>
            <a:ext cx="21590" cy="45720"/>
          </a:xfrm>
          <a:custGeom>
            <a:avLst/>
            <a:gdLst/>
            <a:ahLst/>
            <a:cxnLst/>
            <a:rect l="l" t="t" r="r" b="b"/>
            <a:pathLst>
              <a:path w="21590" h="45720">
                <a:moveTo>
                  <a:pt x="21140" y="0"/>
                </a:moveTo>
                <a:lnTo>
                  <a:pt x="0" y="0"/>
                </a:lnTo>
                <a:lnTo>
                  <a:pt x="0" y="45464"/>
                </a:lnTo>
                <a:lnTo>
                  <a:pt x="21140" y="45464"/>
                </a:lnTo>
                <a:lnTo>
                  <a:pt x="21140" y="0"/>
                </a:lnTo>
                <a:close/>
              </a:path>
            </a:pathLst>
          </a:custGeom>
          <a:solidFill>
            <a:srgbClr val="FFFFFF"/>
          </a:solidFill>
        </p:spPr>
        <p:txBody>
          <a:bodyPr wrap="square" lIns="0" tIns="0" rIns="0" bIns="0" rtlCol="0"/>
          <a:lstStyle/>
          <a:p>
            <a:endParaRPr/>
          </a:p>
        </p:txBody>
      </p:sp>
      <p:sp>
        <p:nvSpPr>
          <p:cNvPr id="27" name="object 27"/>
          <p:cNvSpPr/>
          <p:nvPr/>
        </p:nvSpPr>
        <p:spPr>
          <a:xfrm>
            <a:off x="521872" y="9613103"/>
            <a:ext cx="21590" cy="49530"/>
          </a:xfrm>
          <a:custGeom>
            <a:avLst/>
            <a:gdLst/>
            <a:ahLst/>
            <a:cxnLst/>
            <a:rect l="l" t="t" r="r" b="b"/>
            <a:pathLst>
              <a:path w="21590" h="49529">
                <a:moveTo>
                  <a:pt x="21297" y="0"/>
                </a:moveTo>
                <a:lnTo>
                  <a:pt x="0" y="0"/>
                </a:lnTo>
                <a:lnTo>
                  <a:pt x="0" y="48961"/>
                </a:lnTo>
                <a:lnTo>
                  <a:pt x="21297" y="48961"/>
                </a:lnTo>
                <a:lnTo>
                  <a:pt x="21297" y="0"/>
                </a:lnTo>
                <a:close/>
              </a:path>
            </a:pathLst>
          </a:custGeom>
          <a:solidFill>
            <a:srgbClr val="FFFFFF"/>
          </a:solidFill>
        </p:spPr>
        <p:txBody>
          <a:bodyPr wrap="square" lIns="0" tIns="0" rIns="0" bIns="0" rtlCol="0"/>
          <a:lstStyle/>
          <a:p>
            <a:endParaRPr/>
          </a:p>
        </p:txBody>
      </p:sp>
      <p:sp>
        <p:nvSpPr>
          <p:cNvPr id="28" name="object 28"/>
          <p:cNvSpPr/>
          <p:nvPr/>
        </p:nvSpPr>
        <p:spPr>
          <a:xfrm>
            <a:off x="429403" y="9483154"/>
            <a:ext cx="114300" cy="111760"/>
          </a:xfrm>
          <a:custGeom>
            <a:avLst/>
            <a:gdLst/>
            <a:ahLst/>
            <a:cxnLst/>
            <a:rect l="l" t="t" r="r" b="b"/>
            <a:pathLst>
              <a:path w="114300" h="111759">
                <a:moveTo>
                  <a:pt x="56846" y="0"/>
                </a:moveTo>
                <a:lnTo>
                  <a:pt x="16181" y="17000"/>
                </a:lnTo>
                <a:lnTo>
                  <a:pt x="691" y="52798"/>
                </a:lnTo>
                <a:lnTo>
                  <a:pt x="0" y="69045"/>
                </a:lnTo>
                <a:lnTo>
                  <a:pt x="0" y="111734"/>
                </a:lnTo>
                <a:lnTo>
                  <a:pt x="113766" y="111734"/>
                </a:lnTo>
                <a:lnTo>
                  <a:pt x="113766" y="83274"/>
                </a:lnTo>
                <a:lnTo>
                  <a:pt x="23015" y="83274"/>
                </a:lnTo>
                <a:lnTo>
                  <a:pt x="23115" y="60876"/>
                </a:lnTo>
                <a:lnTo>
                  <a:pt x="49709" y="29848"/>
                </a:lnTo>
                <a:lnTo>
                  <a:pt x="56846" y="29276"/>
                </a:lnTo>
                <a:lnTo>
                  <a:pt x="106849" y="29276"/>
                </a:lnTo>
                <a:lnTo>
                  <a:pt x="105148" y="26596"/>
                </a:lnTo>
                <a:lnTo>
                  <a:pt x="71347" y="1709"/>
                </a:lnTo>
                <a:lnTo>
                  <a:pt x="64272" y="427"/>
                </a:lnTo>
                <a:lnTo>
                  <a:pt x="56846" y="0"/>
                </a:lnTo>
                <a:close/>
              </a:path>
              <a:path w="114300" h="111759">
                <a:moveTo>
                  <a:pt x="106849" y="29276"/>
                </a:moveTo>
                <a:lnTo>
                  <a:pt x="56846" y="29276"/>
                </a:lnTo>
                <a:lnTo>
                  <a:pt x="63982" y="29848"/>
                </a:lnTo>
                <a:lnTo>
                  <a:pt x="70435" y="31563"/>
                </a:lnTo>
                <a:lnTo>
                  <a:pt x="90751" y="83274"/>
                </a:lnTo>
                <a:lnTo>
                  <a:pt x="113766" y="83274"/>
                </a:lnTo>
                <a:lnTo>
                  <a:pt x="111776" y="42773"/>
                </a:lnTo>
                <a:lnTo>
                  <a:pt x="108237" y="31465"/>
                </a:lnTo>
                <a:lnTo>
                  <a:pt x="106849" y="29276"/>
                </a:lnTo>
                <a:close/>
              </a:path>
            </a:pathLst>
          </a:custGeom>
          <a:solidFill>
            <a:srgbClr val="FFFFFF"/>
          </a:solidFill>
        </p:spPr>
        <p:txBody>
          <a:bodyPr wrap="square" lIns="0" tIns="0" rIns="0" bIns="0" rtlCol="0"/>
          <a:lstStyle/>
          <a:p>
            <a:endParaRPr/>
          </a:p>
        </p:txBody>
      </p:sp>
      <p:sp>
        <p:nvSpPr>
          <p:cNvPr id="29" name="object 29"/>
          <p:cNvSpPr/>
          <p:nvPr/>
        </p:nvSpPr>
        <p:spPr>
          <a:xfrm>
            <a:off x="429398" y="9359547"/>
            <a:ext cx="116205" cy="107950"/>
          </a:xfrm>
          <a:custGeom>
            <a:avLst/>
            <a:gdLst/>
            <a:ahLst/>
            <a:cxnLst/>
            <a:rect l="l" t="t" r="r" b="b"/>
            <a:pathLst>
              <a:path w="116204" h="107950">
                <a:moveTo>
                  <a:pt x="65139" y="0"/>
                </a:moveTo>
                <a:lnTo>
                  <a:pt x="0" y="0"/>
                </a:lnTo>
                <a:lnTo>
                  <a:pt x="0" y="28459"/>
                </a:lnTo>
                <a:lnTo>
                  <a:pt x="73107" y="28459"/>
                </a:lnTo>
                <a:lnTo>
                  <a:pt x="80049" y="30606"/>
                </a:lnTo>
                <a:lnTo>
                  <a:pt x="89599" y="39171"/>
                </a:lnTo>
                <a:lnTo>
                  <a:pt x="91976" y="45401"/>
                </a:lnTo>
                <a:lnTo>
                  <a:pt x="91976" y="61830"/>
                </a:lnTo>
                <a:lnTo>
                  <a:pt x="89578" y="68113"/>
                </a:lnTo>
                <a:lnTo>
                  <a:pt x="79987" y="76793"/>
                </a:lnTo>
                <a:lnTo>
                  <a:pt x="73055" y="78960"/>
                </a:lnTo>
                <a:lnTo>
                  <a:pt x="0" y="78960"/>
                </a:lnTo>
                <a:lnTo>
                  <a:pt x="0" y="107588"/>
                </a:lnTo>
                <a:lnTo>
                  <a:pt x="65139" y="107588"/>
                </a:lnTo>
                <a:lnTo>
                  <a:pt x="76434" y="106700"/>
                </a:lnTo>
                <a:lnTo>
                  <a:pt x="108289" y="85599"/>
                </a:lnTo>
                <a:lnTo>
                  <a:pt x="115807" y="53830"/>
                </a:lnTo>
                <a:lnTo>
                  <a:pt x="114973" y="41810"/>
                </a:lnTo>
                <a:lnTo>
                  <a:pt x="95082" y="7977"/>
                </a:lnTo>
                <a:lnTo>
                  <a:pt x="76434" y="885"/>
                </a:lnTo>
                <a:lnTo>
                  <a:pt x="65139" y="0"/>
                </a:lnTo>
                <a:close/>
              </a:path>
            </a:pathLst>
          </a:custGeom>
          <a:solidFill>
            <a:srgbClr val="FFFFFF"/>
          </a:solidFill>
        </p:spPr>
        <p:txBody>
          <a:bodyPr wrap="square" lIns="0" tIns="0" rIns="0" bIns="0" rtlCol="0"/>
          <a:lstStyle/>
          <a:p>
            <a:endParaRPr/>
          </a:p>
        </p:txBody>
      </p:sp>
      <p:sp>
        <p:nvSpPr>
          <p:cNvPr id="30" name="object 30"/>
          <p:cNvSpPr/>
          <p:nvPr/>
        </p:nvSpPr>
        <p:spPr>
          <a:xfrm>
            <a:off x="427474" y="9238293"/>
            <a:ext cx="118110" cy="105410"/>
          </a:xfrm>
          <a:custGeom>
            <a:avLst/>
            <a:gdLst/>
            <a:ahLst/>
            <a:cxnLst/>
            <a:rect l="l" t="t" r="r" b="b"/>
            <a:pathLst>
              <a:path w="118109" h="105409">
                <a:moveTo>
                  <a:pt x="35922" y="973"/>
                </a:moveTo>
                <a:lnTo>
                  <a:pt x="730" y="27119"/>
                </a:lnTo>
                <a:lnTo>
                  <a:pt x="0" y="41150"/>
                </a:lnTo>
                <a:lnTo>
                  <a:pt x="989" y="54630"/>
                </a:lnTo>
                <a:lnTo>
                  <a:pt x="24956" y="95284"/>
                </a:lnTo>
                <a:lnTo>
                  <a:pt x="58937" y="105232"/>
                </a:lnTo>
                <a:lnTo>
                  <a:pt x="67335" y="105232"/>
                </a:lnTo>
                <a:lnTo>
                  <a:pt x="101750" y="87547"/>
                </a:lnTo>
                <a:lnTo>
                  <a:pt x="110653" y="75955"/>
                </a:lnTo>
                <a:lnTo>
                  <a:pt x="58937" y="75955"/>
                </a:lnTo>
                <a:lnTo>
                  <a:pt x="51165" y="75337"/>
                </a:lnTo>
                <a:lnTo>
                  <a:pt x="24382" y="47113"/>
                </a:lnTo>
                <a:lnTo>
                  <a:pt x="23797" y="38951"/>
                </a:lnTo>
                <a:lnTo>
                  <a:pt x="23797" y="32616"/>
                </a:lnTo>
                <a:lnTo>
                  <a:pt x="24802" y="26260"/>
                </a:lnTo>
                <a:lnTo>
                  <a:pt x="28812" y="13580"/>
                </a:lnTo>
                <a:lnTo>
                  <a:pt x="31860" y="7266"/>
                </a:lnTo>
                <a:lnTo>
                  <a:pt x="35922" y="973"/>
                </a:lnTo>
                <a:close/>
              </a:path>
              <a:path w="118109" h="105409">
                <a:moveTo>
                  <a:pt x="106182" y="0"/>
                </a:moveTo>
                <a:lnTo>
                  <a:pt x="79586" y="0"/>
                </a:lnTo>
                <a:lnTo>
                  <a:pt x="84308" y="6827"/>
                </a:lnTo>
                <a:lnTo>
                  <a:pt x="87868" y="13695"/>
                </a:lnTo>
                <a:lnTo>
                  <a:pt x="92695" y="27465"/>
                </a:lnTo>
                <a:lnTo>
                  <a:pt x="93824" y="33883"/>
                </a:lnTo>
                <a:lnTo>
                  <a:pt x="93900" y="41150"/>
                </a:lnTo>
                <a:lnTo>
                  <a:pt x="93305" y="48713"/>
                </a:lnTo>
                <a:lnTo>
                  <a:pt x="58937" y="75955"/>
                </a:lnTo>
                <a:lnTo>
                  <a:pt x="110653" y="75955"/>
                </a:lnTo>
                <a:lnTo>
                  <a:pt x="110946" y="75474"/>
                </a:lnTo>
                <a:lnTo>
                  <a:pt x="116370" y="60574"/>
                </a:lnTo>
                <a:lnTo>
                  <a:pt x="117731" y="52396"/>
                </a:lnTo>
                <a:lnTo>
                  <a:pt x="117731" y="35642"/>
                </a:lnTo>
                <a:lnTo>
                  <a:pt x="116778" y="28145"/>
                </a:lnTo>
                <a:lnTo>
                  <a:pt x="113021" y="13947"/>
                </a:lnTo>
                <a:lnTo>
                  <a:pt x="112888" y="13580"/>
                </a:lnTo>
                <a:lnTo>
                  <a:pt x="110088" y="6827"/>
                </a:lnTo>
                <a:lnTo>
                  <a:pt x="106182" y="0"/>
                </a:lnTo>
                <a:close/>
              </a:path>
            </a:pathLst>
          </a:custGeom>
          <a:solidFill>
            <a:srgbClr val="FFFFFF"/>
          </a:solidFill>
        </p:spPr>
        <p:txBody>
          <a:bodyPr wrap="square" lIns="0" tIns="0" rIns="0" bIns="0" rtlCol="0"/>
          <a:lstStyle/>
          <a:p>
            <a:endParaRPr/>
          </a:p>
        </p:txBody>
      </p:sp>
      <p:sp>
        <p:nvSpPr>
          <p:cNvPr id="31" name="object 31"/>
          <p:cNvSpPr/>
          <p:nvPr/>
        </p:nvSpPr>
        <p:spPr>
          <a:xfrm>
            <a:off x="429402" y="9109151"/>
            <a:ext cx="114300" cy="127000"/>
          </a:xfrm>
          <a:custGeom>
            <a:avLst/>
            <a:gdLst/>
            <a:ahLst/>
            <a:cxnLst/>
            <a:rect l="l" t="t" r="r" b="b"/>
            <a:pathLst>
              <a:path w="114300" h="127000">
                <a:moveTo>
                  <a:pt x="113766" y="0"/>
                </a:moveTo>
                <a:lnTo>
                  <a:pt x="0" y="44323"/>
                </a:lnTo>
                <a:lnTo>
                  <a:pt x="0" y="77170"/>
                </a:lnTo>
                <a:lnTo>
                  <a:pt x="113766" y="126781"/>
                </a:lnTo>
                <a:lnTo>
                  <a:pt x="113766" y="96447"/>
                </a:lnTo>
                <a:lnTo>
                  <a:pt x="91651" y="87337"/>
                </a:lnTo>
                <a:lnTo>
                  <a:pt x="91651" y="79128"/>
                </a:lnTo>
                <a:lnTo>
                  <a:pt x="72133" y="79128"/>
                </a:lnTo>
                <a:lnTo>
                  <a:pt x="28868" y="61474"/>
                </a:lnTo>
                <a:lnTo>
                  <a:pt x="72133" y="45537"/>
                </a:lnTo>
                <a:lnTo>
                  <a:pt x="91651" y="45537"/>
                </a:lnTo>
                <a:lnTo>
                  <a:pt x="91651" y="38302"/>
                </a:lnTo>
                <a:lnTo>
                  <a:pt x="113766" y="30177"/>
                </a:lnTo>
                <a:lnTo>
                  <a:pt x="113766" y="0"/>
                </a:lnTo>
                <a:close/>
              </a:path>
              <a:path w="114300" h="127000">
                <a:moveTo>
                  <a:pt x="91651" y="45537"/>
                </a:moveTo>
                <a:lnTo>
                  <a:pt x="72133" y="45537"/>
                </a:lnTo>
                <a:lnTo>
                  <a:pt x="72133" y="79128"/>
                </a:lnTo>
                <a:lnTo>
                  <a:pt x="91651" y="79128"/>
                </a:lnTo>
                <a:lnTo>
                  <a:pt x="91651" y="45537"/>
                </a:lnTo>
                <a:close/>
              </a:path>
            </a:pathLst>
          </a:custGeom>
          <a:solidFill>
            <a:srgbClr val="FFFFFF"/>
          </a:solidFill>
        </p:spPr>
        <p:txBody>
          <a:bodyPr wrap="square" lIns="0" tIns="0" rIns="0" bIns="0" rtlCol="0"/>
          <a:lstStyle/>
          <a:p>
            <a:endParaRPr/>
          </a:p>
        </p:txBody>
      </p:sp>
      <p:sp>
        <p:nvSpPr>
          <p:cNvPr id="32" name="object 32"/>
          <p:cNvSpPr/>
          <p:nvPr/>
        </p:nvSpPr>
        <p:spPr>
          <a:xfrm>
            <a:off x="427474" y="9004656"/>
            <a:ext cx="118110" cy="105410"/>
          </a:xfrm>
          <a:custGeom>
            <a:avLst/>
            <a:gdLst/>
            <a:ahLst/>
            <a:cxnLst/>
            <a:rect l="l" t="t" r="r" b="b"/>
            <a:pathLst>
              <a:path w="118109" h="105409">
                <a:moveTo>
                  <a:pt x="35922" y="973"/>
                </a:moveTo>
                <a:lnTo>
                  <a:pt x="730" y="27119"/>
                </a:lnTo>
                <a:lnTo>
                  <a:pt x="0" y="41150"/>
                </a:lnTo>
                <a:lnTo>
                  <a:pt x="989" y="54630"/>
                </a:lnTo>
                <a:lnTo>
                  <a:pt x="24956" y="95284"/>
                </a:lnTo>
                <a:lnTo>
                  <a:pt x="58937" y="105232"/>
                </a:lnTo>
                <a:lnTo>
                  <a:pt x="67335" y="105232"/>
                </a:lnTo>
                <a:lnTo>
                  <a:pt x="101740" y="87547"/>
                </a:lnTo>
                <a:lnTo>
                  <a:pt x="110652" y="75955"/>
                </a:lnTo>
                <a:lnTo>
                  <a:pt x="58937" y="75955"/>
                </a:lnTo>
                <a:lnTo>
                  <a:pt x="51165" y="75337"/>
                </a:lnTo>
                <a:lnTo>
                  <a:pt x="24382" y="47113"/>
                </a:lnTo>
                <a:lnTo>
                  <a:pt x="23797" y="38951"/>
                </a:lnTo>
                <a:lnTo>
                  <a:pt x="23797" y="32606"/>
                </a:lnTo>
                <a:lnTo>
                  <a:pt x="24802" y="26260"/>
                </a:lnTo>
                <a:lnTo>
                  <a:pt x="28812" y="13580"/>
                </a:lnTo>
                <a:lnTo>
                  <a:pt x="31860" y="7266"/>
                </a:lnTo>
                <a:lnTo>
                  <a:pt x="35922" y="973"/>
                </a:lnTo>
                <a:close/>
              </a:path>
              <a:path w="118109" h="105409">
                <a:moveTo>
                  <a:pt x="106182" y="0"/>
                </a:moveTo>
                <a:lnTo>
                  <a:pt x="79586" y="0"/>
                </a:lnTo>
                <a:lnTo>
                  <a:pt x="84308" y="6827"/>
                </a:lnTo>
                <a:lnTo>
                  <a:pt x="87868" y="13685"/>
                </a:lnTo>
                <a:lnTo>
                  <a:pt x="92695" y="27465"/>
                </a:lnTo>
                <a:lnTo>
                  <a:pt x="93824" y="33883"/>
                </a:lnTo>
                <a:lnTo>
                  <a:pt x="93900" y="41150"/>
                </a:lnTo>
                <a:lnTo>
                  <a:pt x="93305" y="48709"/>
                </a:lnTo>
                <a:lnTo>
                  <a:pt x="58937" y="75955"/>
                </a:lnTo>
                <a:lnTo>
                  <a:pt x="110652" y="75955"/>
                </a:lnTo>
                <a:lnTo>
                  <a:pt x="110946" y="75474"/>
                </a:lnTo>
                <a:lnTo>
                  <a:pt x="116370" y="60574"/>
                </a:lnTo>
                <a:lnTo>
                  <a:pt x="117731" y="52396"/>
                </a:lnTo>
                <a:lnTo>
                  <a:pt x="117731" y="35642"/>
                </a:lnTo>
                <a:lnTo>
                  <a:pt x="116778" y="28135"/>
                </a:lnTo>
                <a:lnTo>
                  <a:pt x="113021" y="13947"/>
                </a:lnTo>
                <a:lnTo>
                  <a:pt x="112888" y="13580"/>
                </a:lnTo>
                <a:lnTo>
                  <a:pt x="110088" y="6827"/>
                </a:lnTo>
                <a:lnTo>
                  <a:pt x="106182" y="0"/>
                </a:lnTo>
                <a:close/>
              </a:path>
            </a:pathLst>
          </a:custGeom>
          <a:solidFill>
            <a:srgbClr val="FFFFFF"/>
          </a:solidFill>
        </p:spPr>
        <p:txBody>
          <a:bodyPr wrap="square" lIns="0" tIns="0" rIns="0" bIns="0" rtlCol="0"/>
          <a:lstStyle/>
          <a:p>
            <a:endParaRPr/>
          </a:p>
        </p:txBody>
      </p:sp>
      <p:sp>
        <p:nvSpPr>
          <p:cNvPr id="33" name="object 33"/>
          <p:cNvSpPr/>
          <p:nvPr/>
        </p:nvSpPr>
        <p:spPr>
          <a:xfrm>
            <a:off x="429400" y="8972323"/>
            <a:ext cx="114300" cy="0"/>
          </a:xfrm>
          <a:custGeom>
            <a:avLst/>
            <a:gdLst/>
            <a:ahLst/>
            <a:cxnLst/>
            <a:rect l="l" t="t" r="r" b="b"/>
            <a:pathLst>
              <a:path w="114300">
                <a:moveTo>
                  <a:pt x="0" y="0"/>
                </a:moveTo>
                <a:lnTo>
                  <a:pt x="113766" y="0"/>
                </a:lnTo>
              </a:path>
            </a:pathLst>
          </a:custGeom>
          <a:ln w="29360">
            <a:solidFill>
              <a:srgbClr val="FFFFFF"/>
            </a:solidFill>
          </a:ln>
        </p:spPr>
        <p:txBody>
          <a:bodyPr wrap="square" lIns="0" tIns="0" rIns="0" bIns="0" rtlCol="0"/>
          <a:lstStyle/>
          <a:p>
            <a:endParaRPr/>
          </a:p>
        </p:txBody>
      </p:sp>
      <p:sp>
        <p:nvSpPr>
          <p:cNvPr id="34" name="object 34"/>
          <p:cNvSpPr/>
          <p:nvPr/>
        </p:nvSpPr>
        <p:spPr>
          <a:xfrm>
            <a:off x="390112" y="8816556"/>
            <a:ext cx="155575" cy="123825"/>
          </a:xfrm>
          <a:custGeom>
            <a:avLst/>
            <a:gdLst/>
            <a:ahLst/>
            <a:cxnLst/>
            <a:rect l="l" t="t" r="r" b="b"/>
            <a:pathLst>
              <a:path w="155575" h="123825">
                <a:moveTo>
                  <a:pt x="0" y="39192"/>
                </a:moveTo>
                <a:lnTo>
                  <a:pt x="0" y="57254"/>
                </a:lnTo>
                <a:lnTo>
                  <a:pt x="28313" y="73840"/>
                </a:lnTo>
                <a:lnTo>
                  <a:pt x="28313" y="63181"/>
                </a:lnTo>
                <a:lnTo>
                  <a:pt x="0" y="39192"/>
                </a:lnTo>
                <a:close/>
              </a:path>
              <a:path w="155575" h="123825">
                <a:moveTo>
                  <a:pt x="104698" y="0"/>
                </a:moveTo>
                <a:lnTo>
                  <a:pt x="87840" y="0"/>
                </a:lnTo>
                <a:lnTo>
                  <a:pt x="80018" y="1507"/>
                </a:lnTo>
                <a:lnTo>
                  <a:pt x="48239" y="23569"/>
                </a:lnTo>
                <a:lnTo>
                  <a:pt x="37568" y="52511"/>
                </a:lnTo>
                <a:lnTo>
                  <a:pt x="37577" y="71453"/>
                </a:lnTo>
                <a:lnTo>
                  <a:pt x="59244" y="111860"/>
                </a:lnTo>
                <a:lnTo>
                  <a:pt x="87840" y="123776"/>
                </a:lnTo>
                <a:lnTo>
                  <a:pt x="104698" y="123776"/>
                </a:lnTo>
                <a:lnTo>
                  <a:pt x="144225" y="100143"/>
                </a:lnTo>
                <a:lnTo>
                  <a:pt x="147742" y="94499"/>
                </a:lnTo>
                <a:lnTo>
                  <a:pt x="96290" y="94499"/>
                </a:lnTo>
                <a:lnTo>
                  <a:pt x="88988" y="93926"/>
                </a:lnTo>
                <a:lnTo>
                  <a:pt x="61327" y="71453"/>
                </a:lnTo>
                <a:lnTo>
                  <a:pt x="61327" y="52511"/>
                </a:lnTo>
                <a:lnTo>
                  <a:pt x="96290" y="29444"/>
                </a:lnTo>
                <a:lnTo>
                  <a:pt x="147772" y="29444"/>
                </a:lnTo>
                <a:lnTo>
                  <a:pt x="144163" y="23632"/>
                </a:lnTo>
                <a:lnTo>
                  <a:pt x="133221" y="11957"/>
                </a:lnTo>
                <a:lnTo>
                  <a:pt x="126865" y="7528"/>
                </a:lnTo>
                <a:lnTo>
                  <a:pt x="112488" y="1507"/>
                </a:lnTo>
                <a:lnTo>
                  <a:pt x="104698" y="0"/>
                </a:lnTo>
                <a:close/>
              </a:path>
              <a:path w="155575" h="123825">
                <a:moveTo>
                  <a:pt x="147772" y="29444"/>
                </a:moveTo>
                <a:lnTo>
                  <a:pt x="96290" y="29444"/>
                </a:lnTo>
                <a:lnTo>
                  <a:pt x="103560" y="30015"/>
                </a:lnTo>
                <a:lnTo>
                  <a:pt x="110152" y="31730"/>
                </a:lnTo>
                <a:lnTo>
                  <a:pt x="116066" y="34590"/>
                </a:lnTo>
                <a:lnTo>
                  <a:pt x="121305" y="38595"/>
                </a:lnTo>
                <a:lnTo>
                  <a:pt x="127839" y="44710"/>
                </a:lnTo>
                <a:lnTo>
                  <a:pt x="131105" y="52511"/>
                </a:lnTo>
                <a:lnTo>
                  <a:pt x="131105" y="71453"/>
                </a:lnTo>
                <a:lnTo>
                  <a:pt x="96290" y="94499"/>
                </a:lnTo>
                <a:lnTo>
                  <a:pt x="147742" y="94499"/>
                </a:lnTo>
                <a:lnTo>
                  <a:pt x="148309" y="93588"/>
                </a:lnTo>
                <a:lnTo>
                  <a:pt x="153733" y="79002"/>
                </a:lnTo>
                <a:lnTo>
                  <a:pt x="155003" y="71453"/>
                </a:lnTo>
                <a:lnTo>
                  <a:pt x="155003" y="52511"/>
                </a:lnTo>
                <a:lnTo>
                  <a:pt x="153723" y="44909"/>
                </a:lnTo>
                <a:lnTo>
                  <a:pt x="148246" y="30208"/>
                </a:lnTo>
                <a:lnTo>
                  <a:pt x="147772" y="29444"/>
                </a:lnTo>
                <a:close/>
              </a:path>
            </a:pathLst>
          </a:custGeom>
          <a:solidFill>
            <a:srgbClr val="FFFFFF"/>
          </a:solidFill>
        </p:spPr>
        <p:txBody>
          <a:bodyPr wrap="square" lIns="0" tIns="0" rIns="0" bIns="0" rtlCol="0"/>
          <a:lstStyle/>
          <a:p>
            <a:endParaRPr/>
          </a:p>
        </p:txBody>
      </p:sp>
      <p:sp>
        <p:nvSpPr>
          <p:cNvPr id="35" name="object 35"/>
          <p:cNvSpPr/>
          <p:nvPr/>
        </p:nvSpPr>
        <p:spPr>
          <a:xfrm>
            <a:off x="429396" y="8685872"/>
            <a:ext cx="114300" cy="114300"/>
          </a:xfrm>
          <a:custGeom>
            <a:avLst/>
            <a:gdLst/>
            <a:ahLst/>
            <a:cxnLst/>
            <a:rect l="l" t="t" r="r" b="b"/>
            <a:pathLst>
              <a:path w="114300" h="114300">
                <a:moveTo>
                  <a:pt x="113776" y="0"/>
                </a:moveTo>
                <a:lnTo>
                  <a:pt x="0" y="0"/>
                </a:lnTo>
                <a:lnTo>
                  <a:pt x="0" y="28135"/>
                </a:lnTo>
                <a:lnTo>
                  <a:pt x="67819" y="28135"/>
                </a:lnTo>
                <a:lnTo>
                  <a:pt x="0" y="89128"/>
                </a:lnTo>
                <a:lnTo>
                  <a:pt x="0" y="114101"/>
                </a:lnTo>
                <a:lnTo>
                  <a:pt x="113776" y="114101"/>
                </a:lnTo>
                <a:lnTo>
                  <a:pt x="113776" y="85955"/>
                </a:lnTo>
                <a:lnTo>
                  <a:pt x="42291" y="85955"/>
                </a:lnTo>
                <a:lnTo>
                  <a:pt x="113776" y="22282"/>
                </a:lnTo>
                <a:lnTo>
                  <a:pt x="113776" y="0"/>
                </a:lnTo>
                <a:close/>
              </a:path>
            </a:pathLst>
          </a:custGeom>
          <a:solidFill>
            <a:srgbClr val="FFFFFF"/>
          </a:solidFill>
        </p:spPr>
        <p:txBody>
          <a:bodyPr wrap="square" lIns="0" tIns="0" rIns="0" bIns="0" rtlCol="0"/>
          <a:lstStyle/>
          <a:p>
            <a:endParaRPr/>
          </a:p>
        </p:txBody>
      </p:sp>
      <p:sp>
        <p:nvSpPr>
          <p:cNvPr id="36" name="object 36"/>
          <p:cNvSpPr/>
          <p:nvPr/>
        </p:nvSpPr>
        <p:spPr>
          <a:xfrm>
            <a:off x="568370" y="8652071"/>
            <a:ext cx="0" cy="2137410"/>
          </a:xfrm>
          <a:custGeom>
            <a:avLst/>
            <a:gdLst/>
            <a:ahLst/>
            <a:cxnLst/>
            <a:rect l="l" t="t" r="r" b="b"/>
            <a:pathLst>
              <a:path h="2137409">
                <a:moveTo>
                  <a:pt x="0" y="0"/>
                </a:moveTo>
                <a:lnTo>
                  <a:pt x="0" y="2137044"/>
                </a:lnTo>
              </a:path>
            </a:pathLst>
          </a:custGeom>
          <a:ln w="14868">
            <a:solidFill>
              <a:srgbClr val="FFFFFF"/>
            </a:solidFill>
          </a:ln>
        </p:spPr>
        <p:txBody>
          <a:bodyPr wrap="square" lIns="0" tIns="0" rIns="0" bIns="0" rtlCol="0"/>
          <a:lstStyle/>
          <a:p>
            <a:endParaRPr/>
          </a:p>
        </p:txBody>
      </p:sp>
      <p:sp>
        <p:nvSpPr>
          <p:cNvPr id="37" name="object 37"/>
          <p:cNvSpPr/>
          <p:nvPr/>
        </p:nvSpPr>
        <p:spPr>
          <a:xfrm>
            <a:off x="379957" y="8652071"/>
            <a:ext cx="0" cy="2137410"/>
          </a:xfrm>
          <a:custGeom>
            <a:avLst/>
            <a:gdLst/>
            <a:ahLst/>
            <a:cxnLst/>
            <a:rect l="l" t="t" r="r" b="b"/>
            <a:pathLst>
              <a:path h="2137409">
                <a:moveTo>
                  <a:pt x="0" y="0"/>
                </a:moveTo>
                <a:lnTo>
                  <a:pt x="0" y="2137044"/>
                </a:lnTo>
              </a:path>
            </a:pathLst>
          </a:custGeom>
          <a:ln w="5570">
            <a:solidFill>
              <a:srgbClr val="FFFFFF"/>
            </a:solidFill>
          </a:ln>
        </p:spPr>
        <p:txBody>
          <a:bodyPr wrap="square" lIns="0" tIns="0" rIns="0" bIns="0" rtlCol="0"/>
          <a:lstStyle/>
          <a:p>
            <a:endParaRPr/>
          </a:p>
        </p:txBody>
      </p:sp>
      <p:sp>
        <p:nvSpPr>
          <p:cNvPr id="38" name="object 38"/>
          <p:cNvSpPr txBox="1">
            <a:spLocks noGrp="1"/>
          </p:cNvSpPr>
          <p:nvPr>
            <p:ph type="title"/>
          </p:nvPr>
        </p:nvSpPr>
        <p:spPr>
          <a:xfrm>
            <a:off x="1682715" y="1022818"/>
            <a:ext cx="12788936" cy="5831725"/>
          </a:xfrm>
          <a:prstGeom prst="rect">
            <a:avLst/>
          </a:prstGeom>
        </p:spPr>
        <p:txBody>
          <a:bodyPr vert="horz" wrap="square" lIns="0" tIns="14605" rIns="0" bIns="0" rtlCol="0">
            <a:spAutoFit/>
          </a:bodyPr>
          <a:lstStyle/>
          <a:p>
            <a:pPr marL="12700">
              <a:lnSpc>
                <a:spcPct val="100000"/>
              </a:lnSpc>
              <a:spcBef>
                <a:spcPts val="115"/>
              </a:spcBef>
            </a:pPr>
            <a:r>
              <a:rPr lang="es-419" sz="17300" spc="-340" dirty="0"/>
              <a:t>Arquitectura Empresarial</a:t>
            </a:r>
            <a:br>
              <a:rPr lang="es-419" sz="17300" spc="-340" dirty="0"/>
            </a:br>
            <a:r>
              <a:rPr lang="es-MX" sz="3200" spc="-340" dirty="0"/>
              <a:t>Introducción a BPMN</a:t>
            </a:r>
            <a:endParaRPr sz="17300" dirty="0"/>
          </a:p>
        </p:txBody>
      </p:sp>
      <p:sp>
        <p:nvSpPr>
          <p:cNvPr id="39" name="object 39"/>
          <p:cNvSpPr/>
          <p:nvPr/>
        </p:nvSpPr>
        <p:spPr>
          <a:xfrm>
            <a:off x="1308750" y="8876086"/>
            <a:ext cx="1270" cy="1683385"/>
          </a:xfrm>
          <a:custGeom>
            <a:avLst/>
            <a:gdLst/>
            <a:ahLst/>
            <a:cxnLst/>
            <a:rect l="l" t="t" r="r" b="b"/>
            <a:pathLst>
              <a:path w="1269" h="1683384">
                <a:moveTo>
                  <a:pt x="0" y="0"/>
                </a:moveTo>
                <a:lnTo>
                  <a:pt x="743" y="1683184"/>
                </a:lnTo>
              </a:path>
            </a:pathLst>
          </a:custGeom>
          <a:ln w="20941">
            <a:solidFill>
              <a:srgbClr val="FFFFFF"/>
            </a:solidFill>
          </a:ln>
        </p:spPr>
        <p:txBody>
          <a:bodyPr wrap="square" lIns="0" tIns="0" rIns="0" bIns="0" rtlCol="0"/>
          <a:lstStyle/>
          <a:p>
            <a:endParaRPr/>
          </a:p>
        </p:txBody>
      </p:sp>
      <p:sp>
        <p:nvSpPr>
          <p:cNvPr id="40" name="object 40"/>
          <p:cNvSpPr txBox="1"/>
          <p:nvPr/>
        </p:nvSpPr>
        <p:spPr>
          <a:xfrm>
            <a:off x="1593829" y="8584544"/>
            <a:ext cx="4474845" cy="2118360"/>
          </a:xfrm>
          <a:prstGeom prst="rect">
            <a:avLst/>
          </a:prstGeom>
        </p:spPr>
        <p:txBody>
          <a:bodyPr vert="horz" wrap="square" lIns="0" tIns="17145" rIns="0" bIns="0" rtlCol="0">
            <a:spAutoFit/>
          </a:bodyPr>
          <a:lstStyle/>
          <a:p>
            <a:pPr marL="12700">
              <a:lnSpc>
                <a:spcPts val="8215"/>
              </a:lnSpc>
              <a:spcBef>
                <a:spcPts val="135"/>
              </a:spcBef>
            </a:pPr>
            <a:r>
              <a:rPr sz="6950" spc="-105" dirty="0">
                <a:solidFill>
                  <a:srgbClr val="FFFFFF"/>
                </a:solidFill>
                <a:latin typeface="Arial"/>
                <a:cs typeface="Arial"/>
              </a:rPr>
              <a:t>Facultad</a:t>
            </a:r>
            <a:r>
              <a:rPr sz="6950" spc="-360" dirty="0">
                <a:solidFill>
                  <a:srgbClr val="FFFFFF"/>
                </a:solidFill>
                <a:latin typeface="Arial"/>
                <a:cs typeface="Arial"/>
              </a:rPr>
              <a:t> </a:t>
            </a:r>
            <a:r>
              <a:rPr sz="6950" spc="-125" dirty="0">
                <a:solidFill>
                  <a:srgbClr val="FFFFFF"/>
                </a:solidFill>
                <a:latin typeface="Arial"/>
                <a:cs typeface="Arial"/>
              </a:rPr>
              <a:t>de</a:t>
            </a:r>
            <a:endParaRPr sz="6950" dirty="0">
              <a:latin typeface="Arial"/>
              <a:cs typeface="Arial"/>
            </a:endParaRPr>
          </a:p>
          <a:p>
            <a:pPr marL="12700">
              <a:lnSpc>
                <a:spcPts val="8215"/>
              </a:lnSpc>
            </a:pPr>
            <a:r>
              <a:rPr sz="6950" b="1" spc="-125" dirty="0">
                <a:solidFill>
                  <a:srgbClr val="FFFFFF"/>
                </a:solidFill>
                <a:latin typeface="Arial"/>
                <a:cs typeface="Arial"/>
              </a:rPr>
              <a:t>Ingeniería</a:t>
            </a:r>
            <a:endParaRPr sz="6950" dirty="0">
              <a:latin typeface="Arial"/>
              <a:cs typeface="Arial"/>
            </a:endParaRPr>
          </a:p>
        </p:txBody>
      </p:sp>
      <p:pic>
        <p:nvPicPr>
          <p:cNvPr id="41" name="Imagen 40" descr="Imagen que contiene dibujo&#10;&#10;Descripción generada automáticamente">
            <a:extLst>
              <a:ext uri="{FF2B5EF4-FFF2-40B4-BE49-F238E27FC236}">
                <a16:creationId xmlns:a16="http://schemas.microsoft.com/office/drawing/2014/main" id="{3C4B1BA2-9D43-C947-95B0-DD288B5D550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25143" y="8681784"/>
            <a:ext cx="4699000" cy="1714500"/>
          </a:xfrm>
          <a:prstGeom prst="rect">
            <a:avLst/>
          </a:prstGeom>
        </p:spPr>
      </p:pic>
      <p:sp>
        <p:nvSpPr>
          <p:cNvPr id="5" name="CuadroTexto 4">
            <a:extLst>
              <a:ext uri="{FF2B5EF4-FFF2-40B4-BE49-F238E27FC236}">
                <a16:creationId xmlns:a16="http://schemas.microsoft.com/office/drawing/2014/main" id="{7A075541-4624-972B-BFD0-4D70CC56BCDA}"/>
              </a:ext>
            </a:extLst>
          </p:cNvPr>
          <p:cNvSpPr txBox="1"/>
          <p:nvPr/>
        </p:nvSpPr>
        <p:spPr>
          <a:xfrm>
            <a:off x="1593829" y="7053722"/>
            <a:ext cx="10050904" cy="584775"/>
          </a:xfrm>
          <a:prstGeom prst="rect">
            <a:avLst/>
          </a:prstGeom>
          <a:noFill/>
        </p:spPr>
        <p:txBody>
          <a:bodyPr wrap="square">
            <a:spAutoFit/>
          </a:bodyPr>
          <a:lstStyle/>
          <a:p>
            <a:r>
              <a:rPr lang="es-419" sz="3200" spc="-340" dirty="0">
                <a:solidFill>
                  <a:schemeClr val="bg1"/>
                </a:solidFill>
                <a:latin typeface="Arial"/>
                <a:ea typeface="+mj-ea"/>
                <a:cs typeface="Arial"/>
              </a:rPr>
              <a:t>Ing. César Augusto Vega Fernández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43885" y="2583241"/>
            <a:ext cx="7816331" cy="1367938"/>
          </a:xfrm>
          <a:prstGeom prst="rect">
            <a:avLst/>
          </a:prstGeom>
        </p:spPr>
        <p:txBody>
          <a:bodyPr vert="horz" wrap="square" lIns="0" tIns="11429" rIns="0" bIns="0" rtlCol="0">
            <a:spAutoFit/>
          </a:bodyPr>
          <a:lstStyle/>
          <a:p>
            <a:pPr marL="12699" algn="ctr">
              <a:lnSpc>
                <a:spcPts val="11380"/>
              </a:lnSpc>
              <a:spcBef>
                <a:spcPts val="91"/>
              </a:spcBef>
            </a:pPr>
            <a:r>
              <a:rPr lang="es-MX" sz="8905" b="1" spc="-600" dirty="0">
                <a:solidFill>
                  <a:srgbClr val="1F3D6F"/>
                </a:solidFill>
                <a:latin typeface="Arial"/>
                <a:cs typeface="Arial"/>
              </a:rPr>
              <a:t>Descripción</a:t>
            </a:r>
            <a:endParaRPr sz="9899" dirty="0">
              <a:latin typeface="Arial"/>
              <a:cs typeface="Arial"/>
            </a:endParaRPr>
          </a:p>
        </p:txBody>
      </p:sp>
      <p:sp>
        <p:nvSpPr>
          <p:cNvPr id="3" name="object 3"/>
          <p:cNvSpPr/>
          <p:nvPr/>
        </p:nvSpPr>
        <p:spPr>
          <a:xfrm>
            <a:off x="10079451" y="397"/>
            <a:ext cx="10023944" cy="2135606"/>
          </a:xfrm>
          <a:prstGeom prst="rect">
            <a:avLst/>
          </a:prstGeom>
          <a:blipFill>
            <a:blip r:embed="rId3" cstate="print"/>
            <a:stretch>
              <a:fillRect/>
            </a:stretch>
          </a:blipFill>
        </p:spPr>
        <p:txBody>
          <a:bodyPr wrap="square" lIns="0" tIns="0" rIns="0" bIns="0" rtlCol="0"/>
          <a:lstStyle/>
          <a:p>
            <a:endParaRPr sz="1801"/>
          </a:p>
        </p:txBody>
      </p:sp>
      <p:sp>
        <p:nvSpPr>
          <p:cNvPr id="4" name="object 4"/>
          <p:cNvSpPr/>
          <p:nvPr/>
        </p:nvSpPr>
        <p:spPr>
          <a:xfrm>
            <a:off x="10079451" y="20027"/>
            <a:ext cx="10023944" cy="2115978"/>
          </a:xfrm>
          <a:prstGeom prst="rect">
            <a:avLst/>
          </a:prstGeom>
          <a:blipFill>
            <a:blip r:embed="rId4" cstate="print"/>
            <a:stretch>
              <a:fillRect/>
            </a:stretch>
          </a:blipFill>
        </p:spPr>
        <p:txBody>
          <a:bodyPr wrap="square" lIns="0" tIns="0" rIns="0" bIns="0" rtlCol="0"/>
          <a:lstStyle/>
          <a:p>
            <a:endParaRPr sz="1801"/>
          </a:p>
        </p:txBody>
      </p:sp>
      <p:sp>
        <p:nvSpPr>
          <p:cNvPr id="5" name="object 5"/>
          <p:cNvSpPr/>
          <p:nvPr/>
        </p:nvSpPr>
        <p:spPr>
          <a:xfrm>
            <a:off x="18337822" y="1652272"/>
            <a:ext cx="1765812" cy="241919"/>
          </a:xfrm>
          <a:custGeom>
            <a:avLst/>
            <a:gdLst/>
            <a:ahLst/>
            <a:cxnLst/>
            <a:rect l="l" t="t" r="r" b="b"/>
            <a:pathLst>
              <a:path w="1765934" h="241935">
                <a:moveTo>
                  <a:pt x="1765696" y="0"/>
                </a:moveTo>
                <a:lnTo>
                  <a:pt x="0" y="0"/>
                </a:lnTo>
                <a:lnTo>
                  <a:pt x="31412" y="241632"/>
                </a:lnTo>
                <a:lnTo>
                  <a:pt x="1765696" y="241632"/>
                </a:lnTo>
                <a:lnTo>
                  <a:pt x="1765696" y="0"/>
                </a:lnTo>
                <a:close/>
              </a:path>
            </a:pathLst>
          </a:custGeom>
          <a:solidFill>
            <a:srgbClr val="1F3D6F">
              <a:alpha val="51998"/>
            </a:srgbClr>
          </a:solidFill>
        </p:spPr>
        <p:txBody>
          <a:bodyPr wrap="square" lIns="0" tIns="0" rIns="0" bIns="0" rtlCol="0"/>
          <a:lstStyle/>
          <a:p>
            <a:endParaRPr sz="1801"/>
          </a:p>
        </p:txBody>
      </p:sp>
      <p:sp>
        <p:nvSpPr>
          <p:cNvPr id="6" name="object 6"/>
          <p:cNvSpPr/>
          <p:nvPr/>
        </p:nvSpPr>
        <p:spPr>
          <a:xfrm>
            <a:off x="17772011" y="1586677"/>
            <a:ext cx="2331383" cy="537742"/>
          </a:xfrm>
          <a:prstGeom prst="rect">
            <a:avLst/>
          </a:prstGeom>
          <a:blipFill>
            <a:blip r:embed="rId5" cstate="print"/>
            <a:stretch>
              <a:fillRect/>
            </a:stretch>
          </a:blipFill>
        </p:spPr>
        <p:txBody>
          <a:bodyPr wrap="square" lIns="0" tIns="0" rIns="0" bIns="0" rtlCol="0"/>
          <a:lstStyle/>
          <a:p>
            <a:endParaRPr sz="1801"/>
          </a:p>
        </p:txBody>
      </p:sp>
      <p:sp>
        <p:nvSpPr>
          <p:cNvPr id="7" name="object 7"/>
          <p:cNvSpPr txBox="1"/>
          <p:nvPr/>
        </p:nvSpPr>
        <p:spPr>
          <a:xfrm>
            <a:off x="18564111" y="1633696"/>
            <a:ext cx="142103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 Ad</a:t>
            </a:r>
            <a:r>
              <a:rPr sz="1400" spc="-16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8" name="object 8"/>
          <p:cNvSpPr/>
          <p:nvPr/>
        </p:nvSpPr>
        <p:spPr>
          <a:xfrm>
            <a:off x="26693" y="10955"/>
            <a:ext cx="10510418" cy="2119482"/>
          </a:xfrm>
          <a:custGeom>
            <a:avLst/>
            <a:gdLst/>
            <a:ahLst/>
            <a:cxnLst/>
            <a:rect l="l" t="t" r="r" b="b"/>
            <a:pathLst>
              <a:path w="10511155" h="2119630">
                <a:moveTo>
                  <a:pt x="10170370" y="0"/>
                </a:moveTo>
                <a:lnTo>
                  <a:pt x="0" y="8324"/>
                </a:lnTo>
                <a:lnTo>
                  <a:pt x="0" y="2119150"/>
                </a:lnTo>
                <a:lnTo>
                  <a:pt x="10510842" y="2110825"/>
                </a:lnTo>
                <a:lnTo>
                  <a:pt x="10170370" y="0"/>
                </a:lnTo>
                <a:close/>
              </a:path>
            </a:pathLst>
          </a:custGeom>
          <a:solidFill>
            <a:srgbClr val="834E3E"/>
          </a:solidFill>
        </p:spPr>
        <p:txBody>
          <a:bodyPr wrap="square" lIns="0" tIns="0" rIns="0" bIns="0" rtlCol="0"/>
          <a:lstStyle/>
          <a:p>
            <a:endParaRPr sz="1801"/>
          </a:p>
        </p:txBody>
      </p:sp>
      <p:sp>
        <p:nvSpPr>
          <p:cNvPr id="9" name="object 9"/>
          <p:cNvSpPr/>
          <p:nvPr/>
        </p:nvSpPr>
        <p:spPr>
          <a:xfrm>
            <a:off x="706" y="10962"/>
            <a:ext cx="10331148" cy="2125042"/>
          </a:xfrm>
          <a:prstGeom prst="rect">
            <a:avLst/>
          </a:prstGeom>
          <a:blipFill>
            <a:blip r:embed="rId6" cstate="print"/>
            <a:stretch>
              <a:fillRect/>
            </a:stretch>
          </a:blipFill>
        </p:spPr>
        <p:txBody>
          <a:bodyPr wrap="square" lIns="0" tIns="0" rIns="0" bIns="0" rtlCol="0"/>
          <a:lstStyle/>
          <a:p>
            <a:endParaRPr sz="1801"/>
          </a:p>
        </p:txBody>
      </p:sp>
      <p:sp>
        <p:nvSpPr>
          <p:cNvPr id="23" name="object 23"/>
          <p:cNvSpPr/>
          <p:nvPr/>
        </p:nvSpPr>
        <p:spPr>
          <a:xfrm>
            <a:off x="4931221" y="343405"/>
            <a:ext cx="0" cy="1153713"/>
          </a:xfrm>
          <a:custGeom>
            <a:avLst/>
            <a:gdLst/>
            <a:ahLst/>
            <a:cxnLst/>
            <a:rect l="l" t="t" r="r" b="b"/>
            <a:pathLst>
              <a:path h="1153795">
                <a:moveTo>
                  <a:pt x="0" y="0"/>
                </a:moveTo>
                <a:lnTo>
                  <a:pt x="0" y="1153451"/>
                </a:lnTo>
              </a:path>
            </a:pathLst>
          </a:custGeom>
          <a:ln w="20941">
            <a:solidFill>
              <a:srgbClr val="FFFFFF"/>
            </a:solidFill>
          </a:ln>
        </p:spPr>
        <p:txBody>
          <a:bodyPr wrap="square" lIns="0" tIns="0" rIns="0" bIns="0" rtlCol="0"/>
          <a:lstStyle/>
          <a:p>
            <a:endParaRPr sz="1801"/>
          </a:p>
        </p:txBody>
      </p:sp>
      <p:sp>
        <p:nvSpPr>
          <p:cNvPr id="24" name="object 24"/>
          <p:cNvSpPr txBox="1"/>
          <p:nvPr/>
        </p:nvSpPr>
        <p:spPr>
          <a:xfrm>
            <a:off x="5271471" y="463766"/>
            <a:ext cx="2647129" cy="1000017"/>
          </a:xfrm>
          <a:prstGeom prst="rect">
            <a:avLst/>
          </a:prstGeom>
        </p:spPr>
        <p:txBody>
          <a:bodyPr vert="horz" wrap="square" lIns="0" tIns="15240" rIns="0" bIns="0" rtlCol="0">
            <a:spAutoFit/>
          </a:bodyPr>
          <a:lstStyle/>
          <a:p>
            <a:pPr marL="12699">
              <a:spcBef>
                <a:spcPts val="120"/>
              </a:spcBef>
            </a:pPr>
            <a:r>
              <a:rPr sz="3199" spc="-64" dirty="0">
                <a:solidFill>
                  <a:srgbClr val="FFFFFF"/>
                </a:solidFill>
                <a:latin typeface="Arial"/>
                <a:cs typeface="Arial"/>
              </a:rPr>
              <a:t>Facultad</a:t>
            </a:r>
            <a:r>
              <a:rPr sz="3199" spc="-236" dirty="0">
                <a:solidFill>
                  <a:srgbClr val="FFFFFF"/>
                </a:solidFill>
                <a:latin typeface="Arial"/>
                <a:cs typeface="Arial"/>
              </a:rPr>
              <a:t> </a:t>
            </a:r>
            <a:r>
              <a:rPr sz="3199" spc="-74" dirty="0">
                <a:solidFill>
                  <a:srgbClr val="FFFFFF"/>
                </a:solidFill>
                <a:latin typeface="Arial"/>
                <a:cs typeface="Arial"/>
              </a:rPr>
              <a:t>de</a:t>
            </a:r>
            <a:endParaRPr sz="3199" dirty="0">
              <a:latin typeface="Arial"/>
              <a:cs typeface="Arial"/>
            </a:endParaRPr>
          </a:p>
          <a:p>
            <a:pPr marL="12699">
              <a:spcBef>
                <a:spcPts val="30"/>
              </a:spcBef>
            </a:pPr>
            <a:r>
              <a:rPr sz="3199" b="1" spc="-74" dirty="0">
                <a:solidFill>
                  <a:srgbClr val="FFFFFF"/>
                </a:solidFill>
                <a:latin typeface="Arial"/>
                <a:cs typeface="Arial"/>
              </a:rPr>
              <a:t>Ingeniería</a:t>
            </a:r>
            <a:endParaRPr sz="3199" dirty="0">
              <a:latin typeface="Arial"/>
              <a:cs typeface="Arial"/>
            </a:endParaRPr>
          </a:p>
        </p:txBody>
      </p:sp>
      <p:pic>
        <p:nvPicPr>
          <p:cNvPr id="25" name="Imagen 24" descr="Imagen que contiene dibujo&#10;&#10;Descripción generada automáticamente">
            <a:extLst>
              <a:ext uri="{FF2B5EF4-FFF2-40B4-BE49-F238E27FC236}">
                <a16:creationId xmlns:a16="http://schemas.microsoft.com/office/drawing/2014/main" id="{427E6D1F-603C-2741-9787-ED8DC95BFE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6551" y="380552"/>
            <a:ext cx="4072010" cy="1485733"/>
          </a:xfrm>
          <a:prstGeom prst="rect">
            <a:avLst/>
          </a:prstGeom>
        </p:spPr>
      </p:pic>
      <p:sp>
        <p:nvSpPr>
          <p:cNvPr id="13" name="CuadroTexto 12">
            <a:extLst>
              <a:ext uri="{FF2B5EF4-FFF2-40B4-BE49-F238E27FC236}">
                <a16:creationId xmlns:a16="http://schemas.microsoft.com/office/drawing/2014/main" id="{D426A475-A171-8EDE-6984-206116CECED8}"/>
              </a:ext>
            </a:extLst>
          </p:cNvPr>
          <p:cNvSpPr txBox="1"/>
          <p:nvPr/>
        </p:nvSpPr>
        <p:spPr>
          <a:xfrm>
            <a:off x="2194852" y="4404297"/>
            <a:ext cx="15714396" cy="4031873"/>
          </a:xfrm>
          <a:prstGeom prst="rect">
            <a:avLst/>
          </a:prstGeom>
          <a:noFill/>
        </p:spPr>
        <p:txBody>
          <a:bodyPr wrap="square">
            <a:spAutoFit/>
          </a:bodyPr>
          <a:lstStyle/>
          <a:p>
            <a:pPr algn="just"/>
            <a:r>
              <a:rPr lang="es-MX" sz="3200" dirty="0">
                <a:latin typeface="Arial" panose="020B0604020202020204" pitchFamily="34" charset="0"/>
                <a:cs typeface="Arial" panose="020B0604020202020204" pitchFamily="34" charset="0"/>
              </a:rPr>
              <a:t>En esta sesión vamos a introducirnos en el lenguaje estándar BPMN, que nos permite representar visualmente los procesos de negocio. El objetivo es que al finalizar la clase puedan reconocer los elementos básicos de esta notación, entender para qué sirve cada uno y comenzar a aplicarlos para describir procesos reales. Esta es una habilidad fundamental si queremos mejorar procesos, automatizarlos, o simplemente entender mejor cómo opera una organización. Además, lo que veamos hoy será clave para el desarrollo del primer taller, donde modelaremos procesos reales de nuestros clientes usando BPMN.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Automatización de Procesos con poco código &gt; Studio Cloud -ambiente de  autoría &gt; Bizagi Studio &gt; Asistente de Procesos &gt; Modelar Procesos &gt;  Importar Diagramas &gt; Importar diagrama desde BPMN">
            <a:extLst>
              <a:ext uri="{FF2B5EF4-FFF2-40B4-BE49-F238E27FC236}">
                <a16:creationId xmlns:a16="http://schemas.microsoft.com/office/drawing/2014/main" id="{293D274A-F987-31CB-BEA9-4343B5C3D0BE}"/>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11204112" y="2678719"/>
            <a:ext cx="8263312" cy="542163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p:cNvSpPr txBox="1">
            <a:spLocks noGrp="1"/>
          </p:cNvSpPr>
          <p:nvPr>
            <p:ph type="title"/>
          </p:nvPr>
        </p:nvSpPr>
        <p:spPr>
          <a:xfrm>
            <a:off x="5920394" y="922400"/>
            <a:ext cx="8263312" cy="1381916"/>
          </a:xfrm>
          <a:prstGeom prst="rect">
            <a:avLst/>
          </a:prstGeom>
        </p:spPr>
        <p:txBody>
          <a:bodyPr vert="horz" wrap="square" lIns="0" tIns="11429" rIns="0" bIns="0" rtlCol="0" anchor="ctr">
            <a:spAutoFit/>
          </a:bodyPr>
          <a:lstStyle/>
          <a:p>
            <a:pPr marL="12699">
              <a:spcBef>
                <a:spcPts val="91"/>
              </a:spcBef>
            </a:pPr>
            <a:r>
              <a:rPr lang="es-MX" sz="8905" b="1" spc="-600" dirty="0">
                <a:solidFill>
                  <a:srgbClr val="1F3D6F"/>
                </a:solidFill>
              </a:rPr>
              <a:t>¿Qué es BPMN?</a:t>
            </a:r>
            <a:endParaRPr sz="8905" dirty="0"/>
          </a:p>
        </p:txBody>
      </p:sp>
      <p:sp>
        <p:nvSpPr>
          <p:cNvPr id="3" name="object 3"/>
          <p:cNvSpPr/>
          <p:nvPr/>
        </p:nvSpPr>
        <p:spPr>
          <a:xfrm>
            <a:off x="9902630" y="9207816"/>
            <a:ext cx="10200763" cy="2100344"/>
          </a:xfrm>
          <a:prstGeom prst="rect">
            <a:avLst/>
          </a:prstGeom>
          <a:blipFill>
            <a:blip r:embed="rId4" cstate="print"/>
            <a:stretch>
              <a:fillRect/>
            </a:stretch>
          </a:blipFill>
        </p:spPr>
        <p:txBody>
          <a:bodyPr wrap="square" lIns="0" tIns="0" rIns="0" bIns="0" rtlCol="0"/>
          <a:lstStyle/>
          <a:p>
            <a:endParaRPr sz="1801"/>
          </a:p>
        </p:txBody>
      </p:sp>
      <p:sp>
        <p:nvSpPr>
          <p:cNvPr id="4" name="object 4"/>
          <p:cNvSpPr/>
          <p:nvPr/>
        </p:nvSpPr>
        <p:spPr>
          <a:xfrm>
            <a:off x="16812313" y="10689633"/>
            <a:ext cx="3291082" cy="527695"/>
          </a:xfrm>
          <a:prstGeom prst="rect">
            <a:avLst/>
          </a:prstGeom>
          <a:blipFill>
            <a:blip r:embed="rId5" cstate="print"/>
            <a:stretch>
              <a:fillRect/>
            </a:stretch>
          </a:blipFill>
        </p:spPr>
        <p:txBody>
          <a:bodyPr wrap="square" lIns="0" tIns="0" rIns="0" bIns="0" rtlCol="0"/>
          <a:lstStyle/>
          <a:p>
            <a:endParaRPr sz="1801"/>
          </a:p>
        </p:txBody>
      </p:sp>
      <p:sp>
        <p:nvSpPr>
          <p:cNvPr id="5" name="object 5"/>
          <p:cNvSpPr txBox="1"/>
          <p:nvPr/>
        </p:nvSpPr>
        <p:spPr>
          <a:xfrm>
            <a:off x="17144973" y="10737822"/>
            <a:ext cx="2805868" cy="228267"/>
          </a:xfrm>
          <a:prstGeom prst="rect">
            <a:avLst/>
          </a:prstGeom>
        </p:spPr>
        <p:txBody>
          <a:bodyPr vert="horz" wrap="square" lIns="0" tIns="12699" rIns="0" bIns="0" rtlCol="0">
            <a:spAutoFit/>
          </a:bodyPr>
          <a:lstStyle/>
          <a:p>
            <a:pPr marL="12699">
              <a:spcBef>
                <a:spcPts val="101"/>
              </a:spcBef>
            </a:pPr>
            <a:r>
              <a:rPr sz="1400" spc="-5" dirty="0">
                <a:solidFill>
                  <a:srgbClr val="FFFFFF"/>
                </a:solidFill>
                <a:latin typeface="Arial"/>
                <a:cs typeface="Arial"/>
              </a:rPr>
              <a:t>Lago </a:t>
            </a:r>
            <a:r>
              <a:rPr sz="1400" dirty="0">
                <a:solidFill>
                  <a:srgbClr val="FFFFFF"/>
                </a:solidFill>
                <a:latin typeface="Arial"/>
                <a:cs typeface="Arial"/>
              </a:rPr>
              <a:t>con vista </a:t>
            </a:r>
            <a:r>
              <a:rPr sz="1400" spc="-5" dirty="0">
                <a:solidFill>
                  <a:srgbClr val="FFFFFF"/>
                </a:solidFill>
                <a:latin typeface="Arial"/>
                <a:cs typeface="Arial"/>
              </a:rPr>
              <a:t>al </a:t>
            </a:r>
            <a:r>
              <a:rPr sz="1400" dirty="0">
                <a:solidFill>
                  <a:srgbClr val="FFFFFF"/>
                </a:solidFill>
                <a:latin typeface="Arial"/>
                <a:cs typeface="Arial"/>
              </a:rPr>
              <a:t>Edificio Ad</a:t>
            </a:r>
            <a:r>
              <a:rPr sz="1400" spc="-135"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6" name="object 6"/>
          <p:cNvSpPr/>
          <p:nvPr/>
        </p:nvSpPr>
        <p:spPr>
          <a:xfrm>
            <a:off x="707" y="9202235"/>
            <a:ext cx="10507243" cy="2106147"/>
          </a:xfrm>
          <a:custGeom>
            <a:avLst/>
            <a:gdLst/>
            <a:ahLst/>
            <a:cxnLst/>
            <a:rect l="l" t="t" r="r" b="b"/>
            <a:pathLst>
              <a:path w="10507980" h="2106295">
                <a:moveTo>
                  <a:pt x="10168046" y="0"/>
                </a:moveTo>
                <a:lnTo>
                  <a:pt x="0" y="8324"/>
                </a:lnTo>
                <a:lnTo>
                  <a:pt x="0" y="2106071"/>
                </a:lnTo>
                <a:lnTo>
                  <a:pt x="10507742" y="2106071"/>
                </a:lnTo>
                <a:lnTo>
                  <a:pt x="10168046" y="0"/>
                </a:lnTo>
                <a:close/>
              </a:path>
            </a:pathLst>
          </a:custGeom>
          <a:solidFill>
            <a:srgbClr val="834E3E"/>
          </a:solidFill>
        </p:spPr>
        <p:txBody>
          <a:bodyPr wrap="square" lIns="0" tIns="0" rIns="0" bIns="0" rtlCol="0"/>
          <a:lstStyle/>
          <a:p>
            <a:endParaRPr sz="1801"/>
          </a:p>
        </p:txBody>
      </p:sp>
      <p:sp>
        <p:nvSpPr>
          <p:cNvPr id="7" name="object 7"/>
          <p:cNvSpPr/>
          <p:nvPr/>
        </p:nvSpPr>
        <p:spPr>
          <a:xfrm>
            <a:off x="706" y="9202246"/>
            <a:ext cx="10299874" cy="2105913"/>
          </a:xfrm>
          <a:prstGeom prst="rect">
            <a:avLst/>
          </a:prstGeom>
          <a:blipFill>
            <a:blip r:embed="rId6" cstate="print"/>
            <a:stretch>
              <a:fillRect/>
            </a:stretch>
          </a:blipFill>
        </p:spPr>
        <p:txBody>
          <a:bodyPr wrap="square" lIns="0" tIns="0" rIns="0" bIns="0" rtlCol="0"/>
          <a:lstStyle/>
          <a:p>
            <a:endParaRPr sz="1801"/>
          </a:p>
        </p:txBody>
      </p:sp>
      <p:sp>
        <p:nvSpPr>
          <p:cNvPr id="21" name="object 21"/>
          <p:cNvSpPr/>
          <p:nvPr/>
        </p:nvSpPr>
        <p:spPr>
          <a:xfrm>
            <a:off x="4902906" y="9534684"/>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36" name="object 22">
            <a:extLst>
              <a:ext uri="{FF2B5EF4-FFF2-40B4-BE49-F238E27FC236}">
                <a16:creationId xmlns:a16="http://schemas.microsoft.com/office/drawing/2014/main" id="{DAB82442-0062-4D41-B831-EB11EB855ECD}"/>
              </a:ext>
            </a:extLst>
          </p:cNvPr>
          <p:cNvSpPr txBox="1">
            <a:spLocks/>
          </p:cNvSpPr>
          <p:nvPr/>
        </p:nvSpPr>
        <p:spPr>
          <a:xfrm>
            <a:off x="5238623" y="9692993"/>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CO" sz="3199" kern="0" spc="-64"/>
              <a:t>Facultad</a:t>
            </a:r>
            <a:r>
              <a:rPr lang="es-CO" sz="3199" kern="0" spc="-236"/>
              <a:t> </a:t>
            </a:r>
            <a:r>
              <a:rPr lang="es-CO" sz="3199" kern="0" spc="-74"/>
              <a:t>de</a:t>
            </a:r>
          </a:p>
          <a:p>
            <a:pPr marL="12699">
              <a:spcBef>
                <a:spcPts val="30"/>
              </a:spcBef>
            </a:pPr>
            <a:r>
              <a:rPr lang="es-CO" sz="3199" b="1" kern="0" spc="-74"/>
              <a:t>Ingeniería</a:t>
            </a:r>
            <a:endParaRPr lang="es-CO" sz="3199" b="1" kern="0" spc="-74" dirty="0"/>
          </a:p>
        </p:txBody>
      </p:sp>
      <p:pic>
        <p:nvPicPr>
          <p:cNvPr id="37" name="Imagen 36" descr="Imagen que contiene dibujo&#10;&#10;Descripción generada automáticamente">
            <a:extLst>
              <a:ext uri="{FF2B5EF4-FFF2-40B4-BE49-F238E27FC236}">
                <a16:creationId xmlns:a16="http://schemas.microsoft.com/office/drawing/2014/main" id="{FF8350E2-A37A-E748-99F2-1DDB393F46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10" name="CuadroTexto 9">
            <a:extLst>
              <a:ext uri="{FF2B5EF4-FFF2-40B4-BE49-F238E27FC236}">
                <a16:creationId xmlns:a16="http://schemas.microsoft.com/office/drawing/2014/main" id="{08533A11-037C-A924-1761-EE00B01D6B14}"/>
              </a:ext>
            </a:extLst>
          </p:cNvPr>
          <p:cNvSpPr txBox="1"/>
          <p:nvPr/>
        </p:nvSpPr>
        <p:spPr>
          <a:xfrm>
            <a:off x="831850" y="2909052"/>
            <a:ext cx="10200763" cy="4647426"/>
          </a:xfrm>
          <a:prstGeom prst="rect">
            <a:avLst/>
          </a:prstGeom>
          <a:noFill/>
        </p:spPr>
        <p:txBody>
          <a:bodyPr wrap="square">
            <a:spAutoFit/>
          </a:bodyPr>
          <a:lstStyle/>
          <a:p>
            <a:pPr marL="0" indent="0" algn="just">
              <a:buNone/>
            </a:pPr>
            <a:r>
              <a:rPr lang="es-MX" sz="3200" b="1" dirty="0">
                <a:latin typeface="Arial" panose="020B0604020202020204" pitchFamily="34" charset="0"/>
                <a:cs typeface="Arial" panose="020B0604020202020204" pitchFamily="34" charset="0"/>
              </a:rPr>
              <a:t>Business </a:t>
            </a:r>
            <a:r>
              <a:rPr lang="es-MX" sz="3200" b="1" dirty="0" err="1">
                <a:latin typeface="Arial" panose="020B0604020202020204" pitchFamily="34" charset="0"/>
                <a:cs typeface="Arial" panose="020B0604020202020204" pitchFamily="34" charset="0"/>
              </a:rPr>
              <a:t>Process</a:t>
            </a:r>
            <a:r>
              <a:rPr lang="es-MX" sz="3200" b="1" dirty="0">
                <a:latin typeface="Arial" panose="020B0604020202020204" pitchFamily="34" charset="0"/>
                <a:cs typeface="Arial" panose="020B0604020202020204" pitchFamily="34" charset="0"/>
              </a:rPr>
              <a:t> </a:t>
            </a:r>
            <a:r>
              <a:rPr lang="es-MX" sz="3200" b="1" dirty="0" err="1">
                <a:latin typeface="Arial" panose="020B0604020202020204" pitchFamily="34" charset="0"/>
                <a:cs typeface="Arial" panose="020B0604020202020204" pitchFamily="34" charset="0"/>
              </a:rPr>
              <a:t>Model</a:t>
            </a:r>
            <a:r>
              <a:rPr lang="es-MX" sz="3200" b="1" dirty="0">
                <a:latin typeface="Arial" panose="020B0604020202020204" pitchFamily="34" charset="0"/>
                <a:cs typeface="Arial" panose="020B0604020202020204" pitchFamily="34" charset="0"/>
              </a:rPr>
              <a:t> and </a:t>
            </a:r>
            <a:r>
              <a:rPr lang="es-MX" sz="3200" b="1" dirty="0" err="1">
                <a:latin typeface="Arial" panose="020B0604020202020204" pitchFamily="34" charset="0"/>
                <a:cs typeface="Arial" panose="020B0604020202020204" pitchFamily="34" charset="0"/>
              </a:rPr>
              <a:t>Notation</a:t>
            </a:r>
            <a:r>
              <a:rPr lang="es-MX" sz="3200" b="1" dirty="0">
                <a:latin typeface="Arial" panose="020B0604020202020204" pitchFamily="34" charset="0"/>
                <a:cs typeface="Arial" panose="020B0604020202020204" pitchFamily="34" charset="0"/>
              </a:rPr>
              <a:t> </a:t>
            </a:r>
            <a:r>
              <a:rPr lang="es-MX" sz="3200" dirty="0">
                <a:latin typeface="Arial" panose="020B0604020202020204" pitchFamily="34" charset="0"/>
                <a:cs typeface="Arial" panose="020B0604020202020204" pitchFamily="34" charset="0"/>
              </a:rPr>
              <a:t>(BPMN) es un lenguaje visual estandarizado que nos permite representar procesos de negocio de forma comprensible y precisa. Fue diseñado para que tanto técnicos como no técnicos puedan entender cómo fluye un proceso desde su inicio hasta su fin.</a:t>
            </a:r>
          </a:p>
          <a:p>
            <a:pPr marL="0" indent="0" algn="just">
              <a:buNone/>
            </a:pPr>
            <a:endParaRPr lang="es-MX" sz="32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2400" dirty="0" err="1">
                <a:latin typeface="Arial" panose="020B0604020202020204" pitchFamily="34" charset="0"/>
                <a:cs typeface="Arial" panose="020B0604020202020204" pitchFamily="34" charset="0"/>
              </a:rPr>
              <a:t>Creado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por</a:t>
            </a:r>
            <a:r>
              <a:rPr lang="en-US" sz="2400" dirty="0">
                <a:latin typeface="Arial" panose="020B0604020202020204" pitchFamily="34" charset="0"/>
                <a:cs typeface="Arial" panose="020B0604020202020204" pitchFamily="34" charset="0"/>
              </a:rPr>
              <a:t> la OMG (Object Management Group).</a:t>
            </a:r>
            <a:endParaRPr lang="es-419" sz="24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s-419" sz="2400" dirty="0">
                <a:latin typeface="Arial" panose="020B0604020202020204" pitchFamily="34" charset="0"/>
                <a:cs typeface="Arial" panose="020B0604020202020204" pitchFamily="34" charset="0"/>
              </a:rPr>
              <a:t>Es usado ampliamente en herramientas de modelado de procesos.</a:t>
            </a:r>
          </a:p>
          <a:p>
            <a:pPr marL="285750" lvl="0" indent="-285750">
              <a:buFont typeface="Arial" panose="020B0604020202020204" pitchFamily="34" charset="0"/>
              <a:buChar char="•"/>
            </a:pPr>
            <a:r>
              <a:rPr lang="es-419" sz="2400" dirty="0">
                <a:latin typeface="Arial" panose="020B0604020202020204" pitchFamily="34" charset="0"/>
                <a:cs typeface="Arial" panose="020B0604020202020204" pitchFamily="34" charset="0"/>
              </a:rPr>
              <a:t>Permite una lectura fácil y compartida entre equipos multidisciplinarios.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37229" y="9189421"/>
            <a:ext cx="10366153" cy="2118737"/>
          </a:xfrm>
          <a:prstGeom prst="rect">
            <a:avLst/>
          </a:prstGeom>
          <a:blipFill>
            <a:blip r:embed="rId3" cstate="print"/>
            <a:stretch>
              <a:fillRect/>
            </a:stretch>
          </a:blipFill>
        </p:spPr>
        <p:txBody>
          <a:bodyPr wrap="square" lIns="0" tIns="0" rIns="0" bIns="0" rtlCol="0"/>
          <a:lstStyle/>
          <a:p>
            <a:endParaRPr sz="1801"/>
          </a:p>
        </p:txBody>
      </p:sp>
      <p:sp>
        <p:nvSpPr>
          <p:cNvPr id="3" name="object 3"/>
          <p:cNvSpPr/>
          <p:nvPr/>
        </p:nvSpPr>
        <p:spPr>
          <a:xfrm>
            <a:off x="18499190" y="10763347"/>
            <a:ext cx="1604532" cy="241919"/>
          </a:xfrm>
          <a:custGeom>
            <a:avLst/>
            <a:gdLst/>
            <a:ahLst/>
            <a:cxnLst/>
            <a:rect l="l" t="t" r="r" b="b"/>
            <a:pathLst>
              <a:path w="1604644" h="241934">
                <a:moveTo>
                  <a:pt x="1604314" y="0"/>
                </a:moveTo>
                <a:lnTo>
                  <a:pt x="0" y="0"/>
                </a:lnTo>
                <a:lnTo>
                  <a:pt x="31412" y="241636"/>
                </a:lnTo>
                <a:lnTo>
                  <a:pt x="1604314" y="241636"/>
                </a:lnTo>
                <a:lnTo>
                  <a:pt x="1604314" y="0"/>
                </a:lnTo>
                <a:close/>
              </a:path>
            </a:pathLst>
          </a:custGeom>
          <a:solidFill>
            <a:srgbClr val="1F3D6F">
              <a:alpha val="51998"/>
            </a:srgbClr>
          </a:solidFill>
        </p:spPr>
        <p:txBody>
          <a:bodyPr wrap="square" lIns="0" tIns="0" rIns="0" bIns="0" rtlCol="0"/>
          <a:lstStyle/>
          <a:p>
            <a:endParaRPr sz="1801"/>
          </a:p>
        </p:txBody>
      </p:sp>
      <p:sp>
        <p:nvSpPr>
          <p:cNvPr id="4" name="object 4"/>
          <p:cNvSpPr/>
          <p:nvPr/>
        </p:nvSpPr>
        <p:spPr>
          <a:xfrm>
            <a:off x="17797139" y="10697858"/>
            <a:ext cx="2306255" cy="537747"/>
          </a:xfrm>
          <a:prstGeom prst="rect">
            <a:avLst/>
          </a:prstGeom>
          <a:blipFill>
            <a:blip r:embed="rId4" cstate="print"/>
            <a:stretch>
              <a:fillRect/>
            </a:stretch>
          </a:blipFill>
        </p:spPr>
        <p:txBody>
          <a:bodyPr wrap="square" lIns="0" tIns="0" rIns="0" bIns="0" rtlCol="0"/>
          <a:lstStyle/>
          <a:p>
            <a:endParaRPr sz="1801"/>
          </a:p>
        </p:txBody>
      </p:sp>
      <p:sp>
        <p:nvSpPr>
          <p:cNvPr id="5" name="object 5"/>
          <p:cNvSpPr txBox="1"/>
          <p:nvPr/>
        </p:nvSpPr>
        <p:spPr>
          <a:xfrm>
            <a:off x="18678430" y="10744781"/>
            <a:ext cx="1331501" cy="228267"/>
          </a:xfrm>
          <a:prstGeom prst="rect">
            <a:avLst/>
          </a:prstGeom>
        </p:spPr>
        <p:txBody>
          <a:bodyPr vert="horz" wrap="square" lIns="0" tIns="12699" rIns="0" bIns="0" rtlCol="0">
            <a:spAutoFit/>
          </a:bodyPr>
          <a:lstStyle/>
          <a:p>
            <a:pPr marL="12699">
              <a:spcBef>
                <a:spcPts val="101"/>
              </a:spcBef>
            </a:pPr>
            <a:r>
              <a:rPr sz="1400" spc="-5" dirty="0">
                <a:solidFill>
                  <a:srgbClr val="FFFFFF"/>
                </a:solidFill>
                <a:latin typeface="Arial"/>
                <a:cs typeface="Arial"/>
              </a:rPr>
              <a:t>Lobby </a:t>
            </a:r>
            <a:r>
              <a:rPr sz="1400" dirty="0">
                <a:solidFill>
                  <a:srgbClr val="FFFFFF"/>
                </a:solidFill>
                <a:latin typeface="Arial"/>
                <a:cs typeface="Arial"/>
              </a:rPr>
              <a:t>Ad</a:t>
            </a:r>
            <a:r>
              <a:rPr sz="1400" spc="-15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6" name="object 6"/>
          <p:cNvSpPr/>
          <p:nvPr/>
        </p:nvSpPr>
        <p:spPr>
          <a:xfrm>
            <a:off x="29841" y="9197119"/>
            <a:ext cx="10510418" cy="2111227"/>
          </a:xfrm>
          <a:custGeom>
            <a:avLst/>
            <a:gdLst/>
            <a:ahLst/>
            <a:cxnLst/>
            <a:rect l="l" t="t" r="r" b="b"/>
            <a:pathLst>
              <a:path w="10511155" h="2111375">
                <a:moveTo>
                  <a:pt x="10170370" y="0"/>
                </a:moveTo>
                <a:lnTo>
                  <a:pt x="0" y="8324"/>
                </a:lnTo>
                <a:lnTo>
                  <a:pt x="0" y="2111192"/>
                </a:lnTo>
                <a:lnTo>
                  <a:pt x="10058510" y="2111192"/>
                </a:lnTo>
                <a:lnTo>
                  <a:pt x="10510842" y="2110825"/>
                </a:lnTo>
                <a:lnTo>
                  <a:pt x="10170370" y="0"/>
                </a:lnTo>
                <a:close/>
              </a:path>
            </a:pathLst>
          </a:custGeom>
          <a:solidFill>
            <a:srgbClr val="834E3E"/>
          </a:solidFill>
        </p:spPr>
        <p:txBody>
          <a:bodyPr wrap="square" lIns="0" tIns="0" rIns="0" bIns="0" rtlCol="0"/>
          <a:lstStyle/>
          <a:p>
            <a:endParaRPr sz="1801"/>
          </a:p>
        </p:txBody>
      </p:sp>
      <p:sp>
        <p:nvSpPr>
          <p:cNvPr id="7" name="object 7"/>
          <p:cNvSpPr/>
          <p:nvPr/>
        </p:nvSpPr>
        <p:spPr>
          <a:xfrm>
            <a:off x="706" y="9197125"/>
            <a:ext cx="10332132" cy="2111033"/>
          </a:xfrm>
          <a:prstGeom prst="rect">
            <a:avLst/>
          </a:prstGeom>
          <a:blipFill>
            <a:blip r:embed="rId5" cstate="print"/>
            <a:stretch>
              <a:fillRect/>
            </a:stretch>
          </a:blipFill>
        </p:spPr>
        <p:txBody>
          <a:bodyPr wrap="square" lIns="0" tIns="0" rIns="0" bIns="0" rtlCol="0"/>
          <a:lstStyle/>
          <a:p>
            <a:endParaRPr sz="1801"/>
          </a:p>
        </p:txBody>
      </p:sp>
      <p:sp>
        <p:nvSpPr>
          <p:cNvPr id="21" name="object 21"/>
          <p:cNvSpPr/>
          <p:nvPr/>
        </p:nvSpPr>
        <p:spPr>
          <a:xfrm>
            <a:off x="4934366" y="9529565"/>
            <a:ext cx="0" cy="1393093"/>
          </a:xfrm>
          <a:custGeom>
            <a:avLst/>
            <a:gdLst/>
            <a:ahLst/>
            <a:cxnLst/>
            <a:rect l="l" t="t" r="r" b="b"/>
            <a:pathLst>
              <a:path h="1393190">
                <a:moveTo>
                  <a:pt x="0" y="0"/>
                </a:moveTo>
                <a:lnTo>
                  <a:pt x="0" y="1393172"/>
                </a:lnTo>
              </a:path>
            </a:pathLst>
          </a:custGeom>
          <a:ln w="20941">
            <a:solidFill>
              <a:srgbClr val="FFFFFF"/>
            </a:solidFill>
          </a:ln>
        </p:spPr>
        <p:txBody>
          <a:bodyPr wrap="square" lIns="0" tIns="0" rIns="0" bIns="0" rtlCol="0"/>
          <a:lstStyle/>
          <a:p>
            <a:endParaRPr sz="1801"/>
          </a:p>
        </p:txBody>
      </p:sp>
      <p:sp>
        <p:nvSpPr>
          <p:cNvPr id="22" name="object 22"/>
          <p:cNvSpPr txBox="1">
            <a:spLocks noGrp="1"/>
          </p:cNvSpPr>
          <p:nvPr>
            <p:ph type="title"/>
          </p:nvPr>
        </p:nvSpPr>
        <p:spPr>
          <a:xfrm>
            <a:off x="5271471"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B15E034D-70C4-CC4B-B780-A017A58676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8" name="object 2">
            <a:extLst>
              <a:ext uri="{FF2B5EF4-FFF2-40B4-BE49-F238E27FC236}">
                <a16:creationId xmlns:a16="http://schemas.microsoft.com/office/drawing/2014/main" id="{D6BD65B9-B94E-2654-DA0E-28C1CC86729B}"/>
              </a:ext>
            </a:extLst>
          </p:cNvPr>
          <p:cNvSpPr txBox="1"/>
          <p:nvPr/>
        </p:nvSpPr>
        <p:spPr>
          <a:xfrm>
            <a:off x="3469956" y="386692"/>
            <a:ext cx="12534545" cy="1367938"/>
          </a:xfrm>
          <a:prstGeom prst="rect">
            <a:avLst/>
          </a:prstGeom>
        </p:spPr>
        <p:txBody>
          <a:bodyPr vert="horz" wrap="square" lIns="0" tIns="11429" rIns="0" bIns="0" rtlCol="0">
            <a:spAutoFit/>
          </a:bodyPr>
          <a:lstStyle/>
          <a:p>
            <a:pPr marL="12699" algn="ctr">
              <a:lnSpc>
                <a:spcPts val="11380"/>
              </a:lnSpc>
              <a:spcBef>
                <a:spcPts val="91"/>
              </a:spcBef>
            </a:pPr>
            <a:r>
              <a:rPr lang="es-MX" sz="8905" b="1" spc="-600" dirty="0">
                <a:solidFill>
                  <a:srgbClr val="1F3D6F"/>
                </a:solidFill>
                <a:latin typeface="Arial"/>
                <a:cs typeface="Arial"/>
              </a:rPr>
              <a:t>¿Para qué se usa BPMN?</a:t>
            </a:r>
            <a:endParaRPr sz="8905" dirty="0">
              <a:latin typeface="Arial"/>
              <a:cs typeface="Arial"/>
            </a:endParaRPr>
          </a:p>
        </p:txBody>
      </p:sp>
      <p:graphicFrame>
        <p:nvGraphicFramePr>
          <p:cNvPr id="11" name="Content Placeholder 2">
            <a:extLst>
              <a:ext uri="{FF2B5EF4-FFF2-40B4-BE49-F238E27FC236}">
                <a16:creationId xmlns:a16="http://schemas.microsoft.com/office/drawing/2014/main" id="{793787AF-BDE6-D3B3-89B8-09B46DCC2F62}"/>
              </a:ext>
            </a:extLst>
          </p:cNvPr>
          <p:cNvGraphicFramePr>
            <a:graphicFrameLocks/>
          </p:cNvGraphicFramePr>
          <p:nvPr>
            <p:extLst>
              <p:ext uri="{D42A27DB-BD31-4B8C-83A1-F6EECF244321}">
                <p14:modId xmlns:p14="http://schemas.microsoft.com/office/powerpoint/2010/main" val="3547995176"/>
              </p:ext>
            </p:extLst>
          </p:nvPr>
        </p:nvGraphicFramePr>
        <p:xfrm>
          <a:off x="1238741" y="4281308"/>
          <a:ext cx="17626617" cy="429305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CuadroTexto 9">
            <a:extLst>
              <a:ext uri="{FF2B5EF4-FFF2-40B4-BE49-F238E27FC236}">
                <a16:creationId xmlns:a16="http://schemas.microsoft.com/office/drawing/2014/main" id="{A652FCB8-2AFF-C702-1220-A362E9EB1D73}"/>
              </a:ext>
            </a:extLst>
          </p:cNvPr>
          <p:cNvSpPr txBox="1"/>
          <p:nvPr/>
        </p:nvSpPr>
        <p:spPr>
          <a:xfrm>
            <a:off x="2322991" y="2379208"/>
            <a:ext cx="15458116" cy="1569660"/>
          </a:xfrm>
          <a:prstGeom prst="rect">
            <a:avLst/>
          </a:prstGeom>
          <a:noFill/>
        </p:spPr>
        <p:txBody>
          <a:bodyPr wrap="square">
            <a:spAutoFit/>
          </a:bodyPr>
          <a:lstStyle/>
          <a:p>
            <a:r>
              <a:rPr lang="es-MX" sz="3200" dirty="0">
                <a:latin typeface="Arial" panose="020B0604020202020204" pitchFamily="34" charset="0"/>
                <a:cs typeface="Arial" panose="020B0604020202020204" pitchFamily="34" charset="0"/>
              </a:rPr>
              <a:t>La principal utilidad de BPMN es documentar y entender cómo operan los procesos dentro de una organización. Además, permite visualizar cuellos de botella, puntos de automatización y comunicar procesos entre distintas áreas de forma clara.</a:t>
            </a:r>
            <a:endParaRPr lang="es-419" sz="32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095" y="398"/>
            <a:ext cx="2811863" cy="3474911"/>
          </a:xfrm>
          <a:prstGeom prst="rect">
            <a:avLst/>
          </a:prstGeom>
          <a:blipFill>
            <a:blip r:embed="rId3" cstate="print"/>
            <a:stretch>
              <a:fillRect/>
            </a:stretch>
          </a:blipFill>
        </p:spPr>
        <p:txBody>
          <a:bodyPr wrap="square" lIns="0" tIns="0" rIns="0" bIns="0" rtlCol="0"/>
          <a:lstStyle/>
          <a:p>
            <a:endParaRPr sz="1801"/>
          </a:p>
        </p:txBody>
      </p:sp>
      <p:sp>
        <p:nvSpPr>
          <p:cNvPr id="3" name="object 3"/>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sz="1801"/>
          </a:p>
        </p:txBody>
      </p:sp>
      <p:sp>
        <p:nvSpPr>
          <p:cNvPr id="4" name="object 4"/>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sz="1801"/>
          </a:p>
        </p:txBody>
      </p:sp>
      <p:sp>
        <p:nvSpPr>
          <p:cNvPr id="5" name="object 5"/>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sz="1801"/>
          </a:p>
        </p:txBody>
      </p:sp>
      <p:sp>
        <p:nvSpPr>
          <p:cNvPr id="6" name="object 6"/>
          <p:cNvSpPr/>
          <p:nvPr/>
        </p:nvSpPr>
        <p:spPr>
          <a:xfrm>
            <a:off x="16754151" y="398"/>
            <a:ext cx="3349244" cy="7841880"/>
          </a:xfrm>
          <a:prstGeom prst="rect">
            <a:avLst/>
          </a:prstGeom>
          <a:blipFill>
            <a:blip r:embed="rId4" cstate="print"/>
            <a:stretch>
              <a:fillRect/>
            </a:stretch>
          </a:blipFill>
        </p:spPr>
        <p:txBody>
          <a:bodyPr wrap="square" lIns="0" tIns="0" rIns="0" bIns="0" rtlCol="0"/>
          <a:lstStyle/>
          <a:p>
            <a:endParaRPr sz="1801"/>
          </a:p>
        </p:txBody>
      </p:sp>
      <p:sp>
        <p:nvSpPr>
          <p:cNvPr id="7" name="object 7"/>
          <p:cNvSpPr/>
          <p:nvPr/>
        </p:nvSpPr>
        <p:spPr>
          <a:xfrm>
            <a:off x="16775168" y="5955483"/>
            <a:ext cx="3328436" cy="5352674"/>
          </a:xfrm>
          <a:custGeom>
            <a:avLst/>
            <a:gdLst/>
            <a:ahLst/>
            <a:cxnLst/>
            <a:rect l="l" t="t" r="r" b="b"/>
            <a:pathLst>
              <a:path w="3328669" h="5353050">
                <a:moveTo>
                  <a:pt x="0" y="0"/>
                </a:moveTo>
                <a:lnTo>
                  <a:pt x="0" y="5353051"/>
                </a:lnTo>
                <a:lnTo>
                  <a:pt x="3328453" y="5353051"/>
                </a:lnTo>
                <a:lnTo>
                  <a:pt x="3328453" y="141451"/>
                </a:lnTo>
                <a:lnTo>
                  <a:pt x="0" y="0"/>
                </a:lnTo>
                <a:close/>
              </a:path>
            </a:pathLst>
          </a:custGeom>
          <a:solidFill>
            <a:srgbClr val="834E3E"/>
          </a:solidFill>
        </p:spPr>
        <p:txBody>
          <a:bodyPr wrap="square" lIns="0" tIns="0" rIns="0" bIns="0" rtlCol="0"/>
          <a:lstStyle/>
          <a:p>
            <a:endParaRPr sz="1801"/>
          </a:p>
        </p:txBody>
      </p:sp>
      <p:sp>
        <p:nvSpPr>
          <p:cNvPr id="8" name="object 8"/>
          <p:cNvSpPr/>
          <p:nvPr/>
        </p:nvSpPr>
        <p:spPr>
          <a:xfrm>
            <a:off x="16775163" y="6196288"/>
            <a:ext cx="3328231" cy="5111871"/>
          </a:xfrm>
          <a:prstGeom prst="rect">
            <a:avLst/>
          </a:prstGeom>
          <a:blipFill>
            <a:blip r:embed="rId5" cstate="print"/>
            <a:stretch>
              <a:fillRect/>
            </a:stretch>
          </a:blipFill>
        </p:spPr>
        <p:txBody>
          <a:bodyPr wrap="square" lIns="0" tIns="0" rIns="0" bIns="0" rtlCol="0"/>
          <a:lstStyle/>
          <a:p>
            <a:endParaRPr sz="1801"/>
          </a:p>
        </p:txBody>
      </p:sp>
      <p:sp>
        <p:nvSpPr>
          <p:cNvPr id="22" name="object 22"/>
          <p:cNvSpPr/>
          <p:nvPr/>
        </p:nvSpPr>
        <p:spPr>
          <a:xfrm>
            <a:off x="18321276" y="5470297"/>
            <a:ext cx="1782319" cy="241919"/>
          </a:xfrm>
          <a:custGeom>
            <a:avLst/>
            <a:gdLst/>
            <a:ahLst/>
            <a:cxnLst/>
            <a:rect l="l" t="t" r="r" b="b"/>
            <a:pathLst>
              <a:path w="1782444" h="241935">
                <a:moveTo>
                  <a:pt x="1782244" y="0"/>
                </a:moveTo>
                <a:lnTo>
                  <a:pt x="0" y="0"/>
                </a:lnTo>
                <a:lnTo>
                  <a:pt x="31412" y="241634"/>
                </a:lnTo>
                <a:lnTo>
                  <a:pt x="1782244" y="241634"/>
                </a:lnTo>
                <a:lnTo>
                  <a:pt x="1782244" y="0"/>
                </a:lnTo>
                <a:close/>
              </a:path>
            </a:pathLst>
          </a:custGeom>
          <a:solidFill>
            <a:srgbClr val="1F3D6F">
              <a:alpha val="51998"/>
            </a:srgbClr>
          </a:solidFill>
        </p:spPr>
        <p:txBody>
          <a:bodyPr wrap="square" lIns="0" tIns="0" rIns="0" bIns="0" rtlCol="0"/>
          <a:lstStyle/>
          <a:p>
            <a:endParaRPr sz="1801"/>
          </a:p>
        </p:txBody>
      </p:sp>
      <p:sp>
        <p:nvSpPr>
          <p:cNvPr id="23" name="object 23"/>
          <p:cNvSpPr/>
          <p:nvPr/>
        </p:nvSpPr>
        <p:spPr>
          <a:xfrm>
            <a:off x="17726566" y="5403675"/>
            <a:ext cx="2376828" cy="540255"/>
          </a:xfrm>
          <a:prstGeom prst="rect">
            <a:avLst/>
          </a:prstGeom>
          <a:blipFill>
            <a:blip r:embed="rId6" cstate="print"/>
            <a:stretch>
              <a:fillRect/>
            </a:stretch>
          </a:blipFill>
        </p:spPr>
        <p:txBody>
          <a:bodyPr wrap="square" lIns="0" tIns="0" rIns="0" bIns="0" rtlCol="0"/>
          <a:lstStyle/>
          <a:p>
            <a:endParaRPr sz="1801"/>
          </a:p>
        </p:txBody>
      </p:sp>
      <p:sp>
        <p:nvSpPr>
          <p:cNvPr id="24" name="object 24"/>
          <p:cNvSpPr txBox="1"/>
          <p:nvPr/>
        </p:nvSpPr>
        <p:spPr>
          <a:xfrm>
            <a:off x="18519552" y="5451717"/>
            <a:ext cx="142103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 Ad</a:t>
            </a:r>
            <a:r>
              <a:rPr sz="1400" spc="-16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25" name="object 25"/>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sz="1801"/>
          </a:p>
        </p:txBody>
      </p:sp>
      <p:sp>
        <p:nvSpPr>
          <p:cNvPr id="26" name="object 26"/>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sz="1801"/>
          </a:p>
        </p:txBody>
      </p:sp>
      <p:sp>
        <p:nvSpPr>
          <p:cNvPr id="27" name="object 27"/>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sz="1801"/>
          </a:p>
        </p:txBody>
      </p:sp>
      <p:sp>
        <p:nvSpPr>
          <p:cNvPr id="34" name="object 34"/>
          <p:cNvSpPr txBox="1"/>
          <p:nvPr/>
        </p:nvSpPr>
        <p:spPr>
          <a:xfrm>
            <a:off x="17081642" y="6873790"/>
            <a:ext cx="2647129" cy="1000017"/>
          </a:xfrm>
          <a:prstGeom prst="rect">
            <a:avLst/>
          </a:prstGeom>
        </p:spPr>
        <p:txBody>
          <a:bodyPr vert="horz" wrap="square" lIns="0" tIns="15240" rIns="0" bIns="0" rtlCol="0">
            <a:spAutoFit/>
          </a:bodyPr>
          <a:lstStyle/>
          <a:p>
            <a:pPr algn="ctr">
              <a:spcBef>
                <a:spcPts val="120"/>
              </a:spcBef>
            </a:pPr>
            <a:r>
              <a:rPr sz="3199" spc="-64" dirty="0">
                <a:solidFill>
                  <a:srgbClr val="FFFFFF"/>
                </a:solidFill>
                <a:latin typeface="Arial"/>
                <a:cs typeface="Arial"/>
              </a:rPr>
              <a:t>Facultad</a:t>
            </a:r>
            <a:r>
              <a:rPr sz="3199" spc="-241" dirty="0">
                <a:solidFill>
                  <a:srgbClr val="FFFFFF"/>
                </a:solidFill>
                <a:latin typeface="Arial"/>
                <a:cs typeface="Arial"/>
              </a:rPr>
              <a:t> </a:t>
            </a:r>
            <a:r>
              <a:rPr sz="3199" spc="-74" dirty="0">
                <a:solidFill>
                  <a:srgbClr val="FFFFFF"/>
                </a:solidFill>
                <a:latin typeface="Arial"/>
                <a:cs typeface="Arial"/>
              </a:rPr>
              <a:t>de</a:t>
            </a:r>
            <a:endParaRPr sz="3199" dirty="0">
              <a:latin typeface="Arial"/>
              <a:cs typeface="Arial"/>
            </a:endParaRPr>
          </a:p>
          <a:p>
            <a:pPr algn="ctr">
              <a:spcBef>
                <a:spcPts val="30"/>
              </a:spcBef>
            </a:pPr>
            <a:r>
              <a:rPr sz="3199" b="1" spc="-74" dirty="0">
                <a:solidFill>
                  <a:srgbClr val="FFFFFF"/>
                </a:solidFill>
                <a:latin typeface="Arial"/>
                <a:cs typeface="Arial"/>
              </a:rPr>
              <a:t>Ingeniería</a:t>
            </a:r>
            <a:endParaRPr sz="3199" dirty="0">
              <a:latin typeface="Arial"/>
              <a:cs typeface="Arial"/>
            </a:endParaRPr>
          </a:p>
        </p:txBody>
      </p:sp>
      <p:pic>
        <p:nvPicPr>
          <p:cNvPr id="35" name="Imagen 34" descr="Imagen que contiene dibujo&#10;&#10;Descripción generada automáticamente">
            <a:extLst>
              <a:ext uri="{FF2B5EF4-FFF2-40B4-BE49-F238E27FC236}">
                <a16:creationId xmlns:a16="http://schemas.microsoft.com/office/drawing/2014/main" id="{17E67028-184F-BD48-BB91-7A376E91C6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081643" y="8564854"/>
            <a:ext cx="2726257" cy="1949273"/>
          </a:xfrm>
          <a:prstGeom prst="rect">
            <a:avLst/>
          </a:prstGeom>
        </p:spPr>
      </p:pic>
      <p:sp>
        <p:nvSpPr>
          <p:cNvPr id="36" name="object 21">
            <a:extLst>
              <a:ext uri="{FF2B5EF4-FFF2-40B4-BE49-F238E27FC236}">
                <a16:creationId xmlns:a16="http://schemas.microsoft.com/office/drawing/2014/main" id="{FA4991C9-5C2A-C349-8E66-6EAF7E497CBA}"/>
              </a:ext>
            </a:extLst>
          </p:cNvPr>
          <p:cNvSpPr/>
          <p:nvPr/>
        </p:nvSpPr>
        <p:spPr>
          <a:xfrm rot="5400000">
            <a:off x="18434590" y="7247477"/>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dirty="0"/>
          </a:p>
        </p:txBody>
      </p:sp>
      <p:sp>
        <p:nvSpPr>
          <p:cNvPr id="11" name="object 28">
            <a:extLst>
              <a:ext uri="{FF2B5EF4-FFF2-40B4-BE49-F238E27FC236}">
                <a16:creationId xmlns:a16="http://schemas.microsoft.com/office/drawing/2014/main" id="{CEAE0E24-305C-4906-1BCF-6178990459B8}"/>
              </a:ext>
            </a:extLst>
          </p:cNvPr>
          <p:cNvSpPr txBox="1">
            <a:spLocks/>
          </p:cNvSpPr>
          <p:nvPr/>
        </p:nvSpPr>
        <p:spPr>
          <a:xfrm>
            <a:off x="4085861" y="698945"/>
            <a:ext cx="11776006" cy="1281375"/>
          </a:xfrm>
          <a:prstGeom prst="rect">
            <a:avLst/>
          </a:prstGeom>
        </p:spPr>
        <p:txBody>
          <a:bodyPr vert="horz" wrap="square" lIns="0" tIns="11429" rIns="0" bIns="0" rtlCol="0" anchor="ctr">
            <a:spAutoFit/>
          </a:bodyPr>
          <a:lstStyle>
            <a:lvl1pPr>
              <a:defRPr sz="4100" b="0" i="0">
                <a:solidFill>
                  <a:schemeClr val="bg1"/>
                </a:solidFill>
                <a:latin typeface="Arial"/>
                <a:ea typeface="+mj-ea"/>
                <a:cs typeface="Arial"/>
              </a:defRPr>
            </a:lvl1pPr>
          </a:lstStyle>
          <a:p>
            <a:pPr marR="54608">
              <a:lnSpc>
                <a:spcPts val="11249"/>
              </a:lnSpc>
              <a:spcBef>
                <a:spcPts val="91"/>
              </a:spcBef>
            </a:pPr>
            <a:r>
              <a:rPr lang="es-MX" sz="6600" b="1" kern="0" spc="-600" dirty="0">
                <a:solidFill>
                  <a:srgbClr val="1F3D6F"/>
                </a:solidFill>
              </a:rPr>
              <a:t>Elementos clave de BPMN</a:t>
            </a:r>
            <a:endParaRPr lang="es-MX" sz="6600" kern="0" spc="-405" dirty="0">
              <a:solidFill>
                <a:srgbClr val="1F3D6F"/>
              </a:solidFill>
            </a:endParaRPr>
          </a:p>
        </p:txBody>
      </p:sp>
      <p:sp>
        <p:nvSpPr>
          <p:cNvPr id="13" name="CuadroTexto 12">
            <a:extLst>
              <a:ext uri="{FF2B5EF4-FFF2-40B4-BE49-F238E27FC236}">
                <a16:creationId xmlns:a16="http://schemas.microsoft.com/office/drawing/2014/main" id="{E134B652-6156-0FB8-3A15-D5033961F8E5}"/>
              </a:ext>
            </a:extLst>
          </p:cNvPr>
          <p:cNvSpPr txBox="1"/>
          <p:nvPr/>
        </p:nvSpPr>
        <p:spPr>
          <a:xfrm>
            <a:off x="965236" y="3569103"/>
            <a:ext cx="14884838" cy="1569660"/>
          </a:xfrm>
          <a:prstGeom prst="rect">
            <a:avLst/>
          </a:prstGeom>
          <a:noFill/>
        </p:spPr>
        <p:txBody>
          <a:bodyPr wrap="square">
            <a:spAutoFit/>
          </a:bodyPr>
          <a:lstStyle/>
          <a:p>
            <a:pPr algn="just"/>
            <a:r>
              <a:rPr lang="es-MX" sz="3200" dirty="0">
                <a:latin typeface="Arial" panose="020B0604020202020204" pitchFamily="34" charset="0"/>
                <a:cs typeface="Arial" panose="020B0604020202020204" pitchFamily="34" charset="0"/>
              </a:rPr>
              <a:t>BPMN cuenta con un conjunto definido de símbolos que permiten modelar el comportamiento de los procesos de negocio. Comprender estos elementos es esencial para construir modelos claros y funcionales.</a:t>
            </a:r>
            <a:endParaRPr lang="es-419" sz="3200" dirty="0">
              <a:latin typeface="Arial" panose="020B0604020202020204" pitchFamily="34" charset="0"/>
              <a:cs typeface="Arial" panose="020B0604020202020204" pitchFamily="34" charset="0"/>
            </a:endParaRPr>
          </a:p>
        </p:txBody>
      </p:sp>
      <p:sp>
        <p:nvSpPr>
          <p:cNvPr id="14" name="Rectangle 1">
            <a:extLst>
              <a:ext uri="{FF2B5EF4-FFF2-40B4-BE49-F238E27FC236}">
                <a16:creationId xmlns:a16="http://schemas.microsoft.com/office/drawing/2014/main" id="{CC2D7B3B-C3E8-849F-42F7-3E04F57E6C50}"/>
              </a:ext>
            </a:extLst>
          </p:cNvPr>
          <p:cNvSpPr>
            <a:spLocks noChangeArrowheads="1"/>
          </p:cNvSpPr>
          <p:nvPr/>
        </p:nvSpPr>
        <p:spPr bwMode="auto">
          <a:xfrm>
            <a:off x="1050095" y="6727546"/>
            <a:ext cx="636180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419" altLang="es-419" sz="2400" dirty="0">
                <a:latin typeface="Arial" panose="020B0604020202020204" pitchFamily="34" charset="0"/>
                <a:cs typeface="Arial" panose="020B0604020202020204" pitchFamily="34" charset="0"/>
              </a:rPr>
              <a:t>Eventos: círculos con iconografía según tipo.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419" altLang="es-419" sz="2400" dirty="0">
                <a:latin typeface="Arial" panose="020B0604020202020204" pitchFamily="34" charset="0"/>
                <a:cs typeface="Arial" panose="020B0604020202020204" pitchFamily="34" charset="0"/>
              </a:rPr>
              <a:t>Actividades: rectángulos con nombre de tarea.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419" altLang="es-419" sz="2400" dirty="0" err="1">
                <a:latin typeface="Arial" panose="020B0604020202020204" pitchFamily="34" charset="0"/>
                <a:cs typeface="Arial" panose="020B0604020202020204" pitchFamily="34" charset="0"/>
              </a:rPr>
              <a:t>Gateways</a:t>
            </a:r>
            <a:r>
              <a:rPr lang="es-419" altLang="es-419" sz="2400" dirty="0">
                <a:latin typeface="Arial" panose="020B0604020202020204" pitchFamily="34" charset="0"/>
                <a:cs typeface="Arial" panose="020B0604020202020204" pitchFamily="34" charset="0"/>
              </a:rPr>
              <a:t>: rombos para decisiones o paralelismo.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419" altLang="es-419" sz="2400" dirty="0">
                <a:latin typeface="Arial" panose="020B0604020202020204" pitchFamily="34" charset="0"/>
                <a:cs typeface="Arial" panose="020B0604020202020204" pitchFamily="34" charset="0"/>
              </a:rPr>
              <a:t>Conectores: flechas que definen el flujo.</a:t>
            </a:r>
          </a:p>
        </p:txBody>
      </p:sp>
      <p:pic>
        <p:nvPicPr>
          <p:cNvPr id="2051" name="Picture 3" descr="Introducción a BPMN 2.0 Simbología">
            <a:extLst>
              <a:ext uri="{FF2B5EF4-FFF2-40B4-BE49-F238E27FC236}">
                <a16:creationId xmlns:a16="http://schemas.microsoft.com/office/drawing/2014/main" id="{2A0CDBC9-3DF2-243D-EE51-BEC211CC85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07397" y="5720992"/>
            <a:ext cx="8672131" cy="48780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A1331-6659-AB91-7C62-030EFCCFD4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8792CC-55AA-BE9C-821D-F2281E8C6E29}"/>
              </a:ext>
            </a:extLst>
          </p:cNvPr>
          <p:cNvSpPr/>
          <p:nvPr/>
        </p:nvSpPr>
        <p:spPr>
          <a:xfrm>
            <a:off x="16692898" y="397"/>
            <a:ext cx="3410494" cy="6183985"/>
          </a:xfrm>
          <a:prstGeom prst="rect">
            <a:avLst/>
          </a:prstGeom>
          <a:blipFill>
            <a:blip r:embed="rId2" cstate="print"/>
            <a:stretch>
              <a:fillRect/>
            </a:stretch>
          </a:blipFill>
        </p:spPr>
        <p:txBody>
          <a:bodyPr wrap="square" lIns="0" tIns="0" rIns="0" bIns="0" rtlCol="0"/>
          <a:lstStyle/>
          <a:p>
            <a:endParaRPr sz="1801"/>
          </a:p>
        </p:txBody>
      </p:sp>
      <p:sp>
        <p:nvSpPr>
          <p:cNvPr id="3" name="object 3">
            <a:extLst>
              <a:ext uri="{FF2B5EF4-FFF2-40B4-BE49-F238E27FC236}">
                <a16:creationId xmlns:a16="http://schemas.microsoft.com/office/drawing/2014/main" id="{F5653B70-3014-B600-1CDF-A06D5B517A92}"/>
              </a:ext>
            </a:extLst>
          </p:cNvPr>
          <p:cNvSpPr/>
          <p:nvPr/>
        </p:nvSpPr>
        <p:spPr>
          <a:xfrm>
            <a:off x="16688787" y="5950165"/>
            <a:ext cx="3414790" cy="5358389"/>
          </a:xfrm>
          <a:custGeom>
            <a:avLst/>
            <a:gdLst/>
            <a:ahLst/>
            <a:cxnLst/>
            <a:rect l="l" t="t" r="r" b="b"/>
            <a:pathLst>
              <a:path w="3415030" h="5358765">
                <a:moveTo>
                  <a:pt x="0" y="0"/>
                </a:moveTo>
                <a:lnTo>
                  <a:pt x="0" y="5358370"/>
                </a:lnTo>
                <a:lnTo>
                  <a:pt x="3414848" y="5358370"/>
                </a:lnTo>
                <a:lnTo>
                  <a:pt x="3414848" y="145136"/>
                </a:lnTo>
                <a:lnTo>
                  <a:pt x="0" y="0"/>
                </a:lnTo>
                <a:close/>
              </a:path>
            </a:pathLst>
          </a:custGeom>
          <a:solidFill>
            <a:srgbClr val="834E3E"/>
          </a:solidFill>
        </p:spPr>
        <p:txBody>
          <a:bodyPr wrap="square" lIns="0" tIns="0" rIns="0" bIns="0" rtlCol="0"/>
          <a:lstStyle/>
          <a:p>
            <a:endParaRPr sz="1801"/>
          </a:p>
        </p:txBody>
      </p:sp>
      <p:sp>
        <p:nvSpPr>
          <p:cNvPr id="4" name="object 4">
            <a:extLst>
              <a:ext uri="{FF2B5EF4-FFF2-40B4-BE49-F238E27FC236}">
                <a16:creationId xmlns:a16="http://schemas.microsoft.com/office/drawing/2014/main" id="{C065A3FE-3F85-AFC1-1DB9-3AE221162829}"/>
              </a:ext>
            </a:extLst>
          </p:cNvPr>
          <p:cNvSpPr/>
          <p:nvPr/>
        </p:nvSpPr>
        <p:spPr>
          <a:xfrm>
            <a:off x="16688786" y="6190978"/>
            <a:ext cx="3414610" cy="5117181"/>
          </a:xfrm>
          <a:prstGeom prst="rect">
            <a:avLst/>
          </a:prstGeom>
          <a:blipFill>
            <a:blip r:embed="rId3" cstate="print"/>
            <a:stretch>
              <a:fillRect/>
            </a:stretch>
          </a:blipFill>
        </p:spPr>
        <p:txBody>
          <a:bodyPr wrap="square" lIns="0" tIns="0" rIns="0" bIns="0" rtlCol="0"/>
          <a:lstStyle/>
          <a:p>
            <a:endParaRPr sz="1801"/>
          </a:p>
        </p:txBody>
      </p:sp>
      <p:sp>
        <p:nvSpPr>
          <p:cNvPr id="18" name="object 18">
            <a:extLst>
              <a:ext uri="{FF2B5EF4-FFF2-40B4-BE49-F238E27FC236}">
                <a16:creationId xmlns:a16="http://schemas.microsoft.com/office/drawing/2014/main" id="{AF811329-1B90-A7DB-BEEC-E548D40C9B1F}"/>
              </a:ext>
            </a:extLst>
          </p:cNvPr>
          <p:cNvSpPr/>
          <p:nvPr/>
        </p:nvSpPr>
        <p:spPr>
          <a:xfrm>
            <a:off x="18323715" y="5517363"/>
            <a:ext cx="1779780" cy="241919"/>
          </a:xfrm>
          <a:custGeom>
            <a:avLst/>
            <a:gdLst/>
            <a:ahLst/>
            <a:cxnLst/>
            <a:rect l="l" t="t" r="r" b="b"/>
            <a:pathLst>
              <a:path w="1779905" h="241935">
                <a:moveTo>
                  <a:pt x="1779803" y="0"/>
                </a:moveTo>
                <a:lnTo>
                  <a:pt x="0" y="0"/>
                </a:lnTo>
                <a:lnTo>
                  <a:pt x="31412" y="241633"/>
                </a:lnTo>
                <a:lnTo>
                  <a:pt x="1779803" y="241633"/>
                </a:lnTo>
                <a:lnTo>
                  <a:pt x="1779803" y="0"/>
                </a:lnTo>
                <a:close/>
              </a:path>
            </a:pathLst>
          </a:custGeom>
          <a:solidFill>
            <a:srgbClr val="1F3D6F">
              <a:alpha val="51998"/>
            </a:srgbClr>
          </a:solidFill>
        </p:spPr>
        <p:txBody>
          <a:bodyPr wrap="square" lIns="0" tIns="0" rIns="0" bIns="0" rtlCol="0"/>
          <a:lstStyle/>
          <a:p>
            <a:endParaRPr sz="1801"/>
          </a:p>
        </p:txBody>
      </p:sp>
      <p:sp>
        <p:nvSpPr>
          <p:cNvPr id="19" name="object 19">
            <a:extLst>
              <a:ext uri="{FF2B5EF4-FFF2-40B4-BE49-F238E27FC236}">
                <a16:creationId xmlns:a16="http://schemas.microsoft.com/office/drawing/2014/main" id="{5A463785-9F44-6ED0-0298-E9425C38D776}"/>
              </a:ext>
            </a:extLst>
          </p:cNvPr>
          <p:cNvSpPr/>
          <p:nvPr/>
        </p:nvSpPr>
        <p:spPr>
          <a:xfrm>
            <a:off x="17731276" y="5451057"/>
            <a:ext cx="2372117" cy="540255"/>
          </a:xfrm>
          <a:prstGeom prst="rect">
            <a:avLst/>
          </a:prstGeom>
          <a:blipFill>
            <a:blip r:embed="rId4" cstate="print"/>
            <a:stretch>
              <a:fillRect/>
            </a:stretch>
          </a:blipFill>
        </p:spPr>
        <p:txBody>
          <a:bodyPr wrap="square" lIns="0" tIns="0" rIns="0" bIns="0" rtlCol="0"/>
          <a:lstStyle/>
          <a:p>
            <a:endParaRPr sz="1801"/>
          </a:p>
        </p:txBody>
      </p:sp>
      <p:sp>
        <p:nvSpPr>
          <p:cNvPr id="20" name="object 20">
            <a:extLst>
              <a:ext uri="{FF2B5EF4-FFF2-40B4-BE49-F238E27FC236}">
                <a16:creationId xmlns:a16="http://schemas.microsoft.com/office/drawing/2014/main" id="{CE690C6C-2010-B608-33F5-1AE1F40F9628}"/>
              </a:ext>
            </a:extLst>
          </p:cNvPr>
          <p:cNvSpPr txBox="1"/>
          <p:nvPr/>
        </p:nvSpPr>
        <p:spPr>
          <a:xfrm>
            <a:off x="18522004" y="5498797"/>
            <a:ext cx="142103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 Ad</a:t>
            </a:r>
            <a:r>
              <a:rPr sz="1400" spc="-16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21" name="object 21">
            <a:extLst>
              <a:ext uri="{FF2B5EF4-FFF2-40B4-BE49-F238E27FC236}">
                <a16:creationId xmlns:a16="http://schemas.microsoft.com/office/drawing/2014/main" id="{F40F18F3-F059-884D-09D8-24EEA3B997E2}"/>
              </a:ext>
            </a:extLst>
          </p:cNvPr>
          <p:cNvSpPr txBox="1">
            <a:spLocks noGrp="1"/>
          </p:cNvSpPr>
          <p:nvPr>
            <p:ph type="title"/>
          </p:nvPr>
        </p:nvSpPr>
        <p:spPr>
          <a:xfrm>
            <a:off x="318680" y="6642544"/>
            <a:ext cx="19466743" cy="1000017"/>
          </a:xfrm>
          <a:prstGeom prst="rect">
            <a:avLst/>
          </a:prstGeom>
        </p:spPr>
        <p:txBody>
          <a:bodyPr vert="horz" wrap="square" lIns="0" tIns="15240" rIns="0" bIns="0" rtlCol="0" anchor="ctr">
            <a:spAutoFit/>
          </a:bodyPr>
          <a:lstStyle/>
          <a:p>
            <a:pPr marL="16652102" algn="ctr">
              <a:spcBef>
                <a:spcPts val="120"/>
              </a:spcBef>
            </a:pPr>
            <a:r>
              <a:rPr sz="3199" spc="-64" dirty="0" err="1"/>
              <a:t>Facultad</a:t>
            </a:r>
            <a:r>
              <a:rPr sz="3199" spc="-241" dirty="0"/>
              <a:t> </a:t>
            </a:r>
            <a:r>
              <a:rPr sz="3199" spc="-74" dirty="0"/>
              <a:t>de</a:t>
            </a:r>
          </a:p>
          <a:p>
            <a:pPr marL="16652102" algn="ctr">
              <a:spcBef>
                <a:spcPts val="30"/>
              </a:spcBef>
            </a:pPr>
            <a:r>
              <a:rPr sz="3199" b="1" spc="-74" dirty="0" err="1"/>
              <a:t>Ingeniería</a:t>
            </a:r>
            <a:endParaRPr sz="3199" b="1" spc="-74" dirty="0"/>
          </a:p>
        </p:txBody>
      </p:sp>
      <p:pic>
        <p:nvPicPr>
          <p:cNvPr id="22" name="Imagen 21" descr="Imagen que contiene dibujo&#10;&#10;Descripción generada automáticamente">
            <a:extLst>
              <a:ext uri="{FF2B5EF4-FFF2-40B4-BE49-F238E27FC236}">
                <a16:creationId xmlns:a16="http://schemas.microsoft.com/office/drawing/2014/main" id="{7E123C47-675C-4258-2CB3-A8FD153D45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59164" y="8400550"/>
            <a:ext cx="2726257" cy="1949273"/>
          </a:xfrm>
          <a:prstGeom prst="rect">
            <a:avLst/>
          </a:prstGeom>
        </p:spPr>
      </p:pic>
      <p:sp>
        <p:nvSpPr>
          <p:cNvPr id="23" name="object 21">
            <a:extLst>
              <a:ext uri="{FF2B5EF4-FFF2-40B4-BE49-F238E27FC236}">
                <a16:creationId xmlns:a16="http://schemas.microsoft.com/office/drawing/2014/main" id="{5F10CE1E-587F-0EC9-F4FE-74EAF95DB9C0}"/>
              </a:ext>
            </a:extLst>
          </p:cNvPr>
          <p:cNvSpPr/>
          <p:nvPr/>
        </p:nvSpPr>
        <p:spPr>
          <a:xfrm rot="5400000">
            <a:off x="18412113" y="7083173"/>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dirty="0"/>
          </a:p>
        </p:txBody>
      </p:sp>
      <p:sp>
        <p:nvSpPr>
          <p:cNvPr id="5" name="object 28">
            <a:extLst>
              <a:ext uri="{FF2B5EF4-FFF2-40B4-BE49-F238E27FC236}">
                <a16:creationId xmlns:a16="http://schemas.microsoft.com/office/drawing/2014/main" id="{6A227EEA-ADEA-B0B3-6214-4420EA5C3FBF}"/>
              </a:ext>
            </a:extLst>
          </p:cNvPr>
          <p:cNvSpPr txBox="1">
            <a:spLocks/>
          </p:cNvSpPr>
          <p:nvPr/>
        </p:nvSpPr>
        <p:spPr>
          <a:xfrm>
            <a:off x="4085861" y="698945"/>
            <a:ext cx="11776006" cy="1281375"/>
          </a:xfrm>
          <a:prstGeom prst="rect">
            <a:avLst/>
          </a:prstGeom>
        </p:spPr>
        <p:txBody>
          <a:bodyPr vert="horz" wrap="square" lIns="0" tIns="11429" rIns="0" bIns="0" rtlCol="0" anchor="ctr">
            <a:spAutoFit/>
          </a:bodyPr>
          <a:lstStyle>
            <a:lvl1pPr>
              <a:defRPr sz="4100" b="0" i="0">
                <a:solidFill>
                  <a:schemeClr val="bg1"/>
                </a:solidFill>
                <a:latin typeface="Arial"/>
                <a:ea typeface="+mj-ea"/>
                <a:cs typeface="Arial"/>
              </a:defRPr>
            </a:lvl1pPr>
          </a:lstStyle>
          <a:p>
            <a:pPr marR="54608">
              <a:lnSpc>
                <a:spcPts val="11249"/>
              </a:lnSpc>
              <a:spcBef>
                <a:spcPts val="91"/>
              </a:spcBef>
            </a:pPr>
            <a:r>
              <a:rPr lang="es-MX" sz="6600" b="1" kern="0" spc="-600" dirty="0">
                <a:solidFill>
                  <a:srgbClr val="1F3D6F"/>
                </a:solidFill>
              </a:rPr>
              <a:t>Tipos de actividades</a:t>
            </a:r>
            <a:endParaRPr lang="es-MX" sz="6600" kern="0" spc="-405" dirty="0">
              <a:solidFill>
                <a:srgbClr val="1F3D6F"/>
              </a:solidFill>
            </a:endParaRPr>
          </a:p>
        </p:txBody>
      </p:sp>
      <p:sp>
        <p:nvSpPr>
          <p:cNvPr id="6" name="object 2">
            <a:extLst>
              <a:ext uri="{FF2B5EF4-FFF2-40B4-BE49-F238E27FC236}">
                <a16:creationId xmlns:a16="http://schemas.microsoft.com/office/drawing/2014/main" id="{29C66961-BFC3-64D6-DDB6-4341E4BA4557}"/>
              </a:ext>
            </a:extLst>
          </p:cNvPr>
          <p:cNvSpPr/>
          <p:nvPr/>
        </p:nvSpPr>
        <p:spPr>
          <a:xfrm>
            <a:off x="1050095" y="398"/>
            <a:ext cx="2811863" cy="3474911"/>
          </a:xfrm>
          <a:prstGeom prst="rect">
            <a:avLst/>
          </a:prstGeom>
          <a:blipFill>
            <a:blip r:embed="rId6" cstate="print"/>
            <a:stretch>
              <a:fillRect/>
            </a:stretch>
          </a:blipFill>
        </p:spPr>
        <p:txBody>
          <a:bodyPr wrap="square" lIns="0" tIns="0" rIns="0" bIns="0" rtlCol="0"/>
          <a:lstStyle/>
          <a:p>
            <a:endParaRPr sz="1801"/>
          </a:p>
        </p:txBody>
      </p:sp>
      <p:sp>
        <p:nvSpPr>
          <p:cNvPr id="7" name="object 3">
            <a:extLst>
              <a:ext uri="{FF2B5EF4-FFF2-40B4-BE49-F238E27FC236}">
                <a16:creationId xmlns:a16="http://schemas.microsoft.com/office/drawing/2014/main" id="{67DA866B-AF0C-A5F0-9233-C2D4F863F417}"/>
              </a:ext>
            </a:extLst>
          </p:cNvPr>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sz="1801"/>
          </a:p>
        </p:txBody>
      </p:sp>
      <p:sp>
        <p:nvSpPr>
          <p:cNvPr id="31" name="object 4">
            <a:extLst>
              <a:ext uri="{FF2B5EF4-FFF2-40B4-BE49-F238E27FC236}">
                <a16:creationId xmlns:a16="http://schemas.microsoft.com/office/drawing/2014/main" id="{2B89C156-3C1E-4D92-C9D8-893C5E11A028}"/>
              </a:ext>
            </a:extLst>
          </p:cNvPr>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sz="1801"/>
          </a:p>
        </p:txBody>
      </p:sp>
      <p:sp>
        <p:nvSpPr>
          <p:cNvPr id="32" name="object 5">
            <a:extLst>
              <a:ext uri="{FF2B5EF4-FFF2-40B4-BE49-F238E27FC236}">
                <a16:creationId xmlns:a16="http://schemas.microsoft.com/office/drawing/2014/main" id="{660D897E-8B11-DC79-7B8B-65321A1CEA76}"/>
              </a:ext>
            </a:extLst>
          </p:cNvPr>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sz="1801"/>
          </a:p>
        </p:txBody>
      </p:sp>
      <p:sp>
        <p:nvSpPr>
          <p:cNvPr id="33" name="object 25">
            <a:extLst>
              <a:ext uri="{FF2B5EF4-FFF2-40B4-BE49-F238E27FC236}">
                <a16:creationId xmlns:a16="http://schemas.microsoft.com/office/drawing/2014/main" id="{532B4AFC-BD12-EE92-3FFE-D0520E03088B}"/>
              </a:ext>
            </a:extLst>
          </p:cNvPr>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sz="1801"/>
          </a:p>
        </p:txBody>
      </p:sp>
      <p:sp>
        <p:nvSpPr>
          <p:cNvPr id="34" name="object 26">
            <a:extLst>
              <a:ext uri="{FF2B5EF4-FFF2-40B4-BE49-F238E27FC236}">
                <a16:creationId xmlns:a16="http://schemas.microsoft.com/office/drawing/2014/main" id="{42156568-6EDB-1E33-3FA9-15B6424EA39E}"/>
              </a:ext>
            </a:extLst>
          </p:cNvPr>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sz="1801"/>
          </a:p>
        </p:txBody>
      </p:sp>
      <p:sp>
        <p:nvSpPr>
          <p:cNvPr id="35" name="object 27">
            <a:extLst>
              <a:ext uri="{FF2B5EF4-FFF2-40B4-BE49-F238E27FC236}">
                <a16:creationId xmlns:a16="http://schemas.microsoft.com/office/drawing/2014/main" id="{5CED50D2-DB04-32DA-2F26-AAC08DAC42C3}"/>
              </a:ext>
            </a:extLst>
          </p:cNvPr>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sz="1801"/>
          </a:p>
        </p:txBody>
      </p:sp>
      <p:sp>
        <p:nvSpPr>
          <p:cNvPr id="9" name="CuadroTexto 8">
            <a:extLst>
              <a:ext uri="{FF2B5EF4-FFF2-40B4-BE49-F238E27FC236}">
                <a16:creationId xmlns:a16="http://schemas.microsoft.com/office/drawing/2014/main" id="{B31863BF-EBAE-ADD0-D4C0-4DCE00B6DDE0}"/>
              </a:ext>
            </a:extLst>
          </p:cNvPr>
          <p:cNvSpPr txBox="1"/>
          <p:nvPr/>
        </p:nvSpPr>
        <p:spPr>
          <a:xfrm>
            <a:off x="965236" y="3569103"/>
            <a:ext cx="14884838" cy="1569660"/>
          </a:xfrm>
          <a:prstGeom prst="rect">
            <a:avLst/>
          </a:prstGeom>
          <a:noFill/>
        </p:spPr>
        <p:txBody>
          <a:bodyPr wrap="square">
            <a:spAutoFit/>
          </a:bodyPr>
          <a:lstStyle/>
          <a:p>
            <a:pPr algn="just"/>
            <a:r>
              <a:rPr lang="es-MX" sz="3200" b="1" dirty="0">
                <a:latin typeface="Arial" panose="020B0604020202020204" pitchFamily="34" charset="0"/>
                <a:cs typeface="Arial" panose="020B0604020202020204" pitchFamily="34" charset="0"/>
              </a:rPr>
              <a:t>Las actividades representan las acciones que deben realizarse dentro del proceso. </a:t>
            </a:r>
            <a:r>
              <a:rPr lang="es-MX" sz="3200" dirty="0">
                <a:latin typeface="Arial" panose="020B0604020202020204" pitchFamily="34" charset="0"/>
                <a:cs typeface="Arial" panose="020B0604020202020204" pitchFamily="34" charset="0"/>
              </a:rPr>
              <a:t>Pueden ser manuales, automáticas o subdividirse en procesos más pequeños.</a:t>
            </a:r>
            <a:endParaRPr lang="es-419" sz="3200" dirty="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92A752B2-5522-D993-E10C-22A98A534BFD}"/>
              </a:ext>
            </a:extLst>
          </p:cNvPr>
          <p:cNvSpPr>
            <a:spLocks noChangeArrowheads="1"/>
          </p:cNvSpPr>
          <p:nvPr/>
        </p:nvSpPr>
        <p:spPr bwMode="auto">
          <a:xfrm>
            <a:off x="7842250" y="6902170"/>
            <a:ext cx="7848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Usuario: requiere intervención humana.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Servicio: llamada a un sistema o API.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Subproceso: grupo de tareas encapsuladas.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err="1">
                <a:latin typeface="Arial" panose="020B0604020202020204" pitchFamily="34" charset="0"/>
                <a:cs typeface="Arial" panose="020B0604020202020204" pitchFamily="34" charset="0"/>
              </a:rPr>
              <a:t>Loop</a:t>
            </a:r>
            <a:r>
              <a:rPr lang="es-MX" altLang="es-419" sz="2400" dirty="0">
                <a:latin typeface="Arial" panose="020B0604020202020204" pitchFamily="34" charset="0"/>
                <a:cs typeface="Arial" panose="020B0604020202020204" pitchFamily="34" charset="0"/>
              </a:rPr>
              <a:t>: se repite mientras se cumpla una condición.</a:t>
            </a:r>
            <a:endParaRPr lang="es-419" altLang="es-419" sz="2400" dirty="0">
              <a:latin typeface="Arial" panose="020B0604020202020204" pitchFamily="34" charset="0"/>
              <a:cs typeface="Arial" panose="020B0604020202020204" pitchFamily="34" charset="0"/>
            </a:endParaRPr>
          </a:p>
        </p:txBody>
      </p:sp>
      <p:pic>
        <p:nvPicPr>
          <p:cNvPr id="4098" name="Picture 2">
            <a:extLst>
              <a:ext uri="{FF2B5EF4-FFF2-40B4-BE49-F238E27FC236}">
                <a16:creationId xmlns:a16="http://schemas.microsoft.com/office/drawing/2014/main" id="{E2171CEA-DA9A-C9B0-C326-9EFABB9703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5516" y="5423389"/>
            <a:ext cx="5662690" cy="4954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035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769228" y="409"/>
            <a:ext cx="3334156" cy="6175209"/>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16754662" y="5934795"/>
            <a:ext cx="3348756" cy="5363468"/>
          </a:xfrm>
          <a:custGeom>
            <a:avLst/>
            <a:gdLst/>
            <a:ahLst/>
            <a:cxnLst/>
            <a:rect l="l" t="t" r="r" b="b"/>
            <a:pathLst>
              <a:path w="3348990" h="5363845">
                <a:moveTo>
                  <a:pt x="0" y="0"/>
                </a:moveTo>
                <a:lnTo>
                  <a:pt x="0" y="5363375"/>
                </a:lnTo>
                <a:lnTo>
                  <a:pt x="3348966" y="5363375"/>
                </a:lnTo>
                <a:lnTo>
                  <a:pt x="3348966" y="142341"/>
                </a:lnTo>
                <a:lnTo>
                  <a:pt x="0" y="0"/>
                </a:lnTo>
                <a:close/>
              </a:path>
            </a:pathLst>
          </a:custGeom>
          <a:solidFill>
            <a:srgbClr val="834E3E"/>
          </a:solidFill>
        </p:spPr>
        <p:txBody>
          <a:bodyPr wrap="square" lIns="0" tIns="0" rIns="0" bIns="0" rtlCol="0"/>
          <a:lstStyle/>
          <a:p>
            <a:endParaRPr sz="1801"/>
          </a:p>
        </p:txBody>
      </p:sp>
      <p:sp>
        <p:nvSpPr>
          <p:cNvPr id="4" name="object 4"/>
          <p:cNvSpPr/>
          <p:nvPr/>
        </p:nvSpPr>
        <p:spPr>
          <a:xfrm>
            <a:off x="16754663" y="6175617"/>
            <a:ext cx="3348731" cy="5132541"/>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18255845" y="5414616"/>
            <a:ext cx="1843275" cy="241919"/>
          </a:xfrm>
          <a:custGeom>
            <a:avLst/>
            <a:gdLst/>
            <a:ahLst/>
            <a:cxnLst/>
            <a:rect l="l" t="t" r="r" b="b"/>
            <a:pathLst>
              <a:path w="1843405" h="241935">
                <a:moveTo>
                  <a:pt x="1843210" y="0"/>
                </a:moveTo>
                <a:lnTo>
                  <a:pt x="0" y="0"/>
                </a:lnTo>
                <a:lnTo>
                  <a:pt x="31412" y="241636"/>
                </a:lnTo>
                <a:lnTo>
                  <a:pt x="1843210" y="241636"/>
                </a:lnTo>
                <a:lnTo>
                  <a:pt x="1843210" y="0"/>
                </a:lnTo>
                <a:close/>
              </a:path>
            </a:pathLst>
          </a:custGeom>
          <a:solidFill>
            <a:srgbClr val="1F3D6F">
              <a:alpha val="51998"/>
            </a:srgbClr>
          </a:solidFill>
        </p:spPr>
        <p:txBody>
          <a:bodyPr wrap="square" lIns="0" tIns="0" rIns="0" bIns="0" rtlCol="0"/>
          <a:lstStyle/>
          <a:p>
            <a:endParaRPr sz="1801"/>
          </a:p>
        </p:txBody>
      </p:sp>
      <p:sp>
        <p:nvSpPr>
          <p:cNvPr id="19" name="object 19"/>
          <p:cNvSpPr/>
          <p:nvPr/>
        </p:nvSpPr>
        <p:spPr>
          <a:xfrm>
            <a:off x="17661652" y="5348478"/>
            <a:ext cx="2432421" cy="540256"/>
          </a:xfrm>
          <a:prstGeom prst="rect">
            <a:avLst/>
          </a:prstGeom>
          <a:blipFill>
            <a:blip r:embed="rId4" cstate="print"/>
            <a:stretch>
              <a:fillRect/>
            </a:stretch>
          </a:blipFill>
        </p:spPr>
        <p:txBody>
          <a:bodyPr wrap="square" lIns="0" tIns="0" rIns="0" bIns="0" rtlCol="0"/>
          <a:lstStyle/>
          <a:p>
            <a:endParaRPr sz="1801"/>
          </a:p>
        </p:txBody>
      </p:sp>
      <p:sp>
        <p:nvSpPr>
          <p:cNvPr id="20" name="object 20"/>
          <p:cNvSpPr txBox="1"/>
          <p:nvPr/>
        </p:nvSpPr>
        <p:spPr>
          <a:xfrm>
            <a:off x="18454135" y="5396048"/>
            <a:ext cx="142103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 Ad</a:t>
            </a:r>
            <a:r>
              <a:rPr sz="1400" spc="-16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21" name="object 21"/>
          <p:cNvSpPr txBox="1">
            <a:spLocks noGrp="1"/>
          </p:cNvSpPr>
          <p:nvPr>
            <p:ph type="title"/>
          </p:nvPr>
        </p:nvSpPr>
        <p:spPr>
          <a:xfrm>
            <a:off x="222942" y="6711820"/>
            <a:ext cx="19466743" cy="1000017"/>
          </a:xfrm>
          <a:prstGeom prst="rect">
            <a:avLst/>
          </a:prstGeom>
        </p:spPr>
        <p:txBody>
          <a:bodyPr vert="horz" wrap="square" lIns="0" tIns="15240" rIns="0" bIns="0" rtlCol="0" anchor="ctr">
            <a:spAutoFit/>
          </a:bodyPr>
          <a:lstStyle/>
          <a:p>
            <a:pPr marL="16819734" algn="ctr">
              <a:spcBef>
                <a:spcPts val="120"/>
              </a:spcBef>
            </a:pPr>
            <a:r>
              <a:rPr sz="3199" spc="-64" dirty="0"/>
              <a:t>Facultad</a:t>
            </a:r>
            <a:r>
              <a:rPr sz="3199" spc="-241" dirty="0"/>
              <a:t> </a:t>
            </a:r>
            <a:r>
              <a:rPr sz="3199" spc="-74" dirty="0"/>
              <a:t>de</a:t>
            </a:r>
          </a:p>
          <a:p>
            <a:pPr marL="16819734" algn="ctr">
              <a:spcBef>
                <a:spcPts val="30"/>
              </a:spcBef>
            </a:pPr>
            <a:r>
              <a:rPr sz="3199" b="1" spc="-74" dirty="0"/>
              <a:t>Ingeniería</a:t>
            </a:r>
          </a:p>
        </p:txBody>
      </p:sp>
      <p:pic>
        <p:nvPicPr>
          <p:cNvPr id="22" name="Imagen 21" descr="Imagen que contiene dibujo&#10;&#10;Descripción generada automáticamente">
            <a:extLst>
              <a:ext uri="{FF2B5EF4-FFF2-40B4-BE49-F238E27FC236}">
                <a16:creationId xmlns:a16="http://schemas.microsoft.com/office/drawing/2014/main" id="{EF829063-C0B8-D942-BAA2-058AD1DA47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91007" y="8488863"/>
            <a:ext cx="2726257" cy="1949273"/>
          </a:xfrm>
          <a:prstGeom prst="rect">
            <a:avLst/>
          </a:prstGeom>
        </p:spPr>
      </p:pic>
      <p:sp>
        <p:nvSpPr>
          <p:cNvPr id="23" name="object 21">
            <a:extLst>
              <a:ext uri="{FF2B5EF4-FFF2-40B4-BE49-F238E27FC236}">
                <a16:creationId xmlns:a16="http://schemas.microsoft.com/office/drawing/2014/main" id="{7995E21A-E87F-AA41-AD2C-EF47248A63B5}"/>
              </a:ext>
            </a:extLst>
          </p:cNvPr>
          <p:cNvSpPr/>
          <p:nvPr/>
        </p:nvSpPr>
        <p:spPr>
          <a:xfrm rot="5400000">
            <a:off x="18443954" y="7171487"/>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dirty="0"/>
          </a:p>
        </p:txBody>
      </p:sp>
      <p:sp>
        <p:nvSpPr>
          <p:cNvPr id="5" name="object 2">
            <a:extLst>
              <a:ext uri="{FF2B5EF4-FFF2-40B4-BE49-F238E27FC236}">
                <a16:creationId xmlns:a16="http://schemas.microsoft.com/office/drawing/2014/main" id="{14CA6C5A-EE9F-D2E6-C150-B6A3058DC32F}"/>
              </a:ext>
            </a:extLst>
          </p:cNvPr>
          <p:cNvSpPr/>
          <p:nvPr/>
        </p:nvSpPr>
        <p:spPr>
          <a:xfrm>
            <a:off x="1050095" y="398"/>
            <a:ext cx="2811863" cy="3474911"/>
          </a:xfrm>
          <a:prstGeom prst="rect">
            <a:avLst/>
          </a:prstGeom>
          <a:blipFill>
            <a:blip r:embed="rId6" cstate="print"/>
            <a:stretch>
              <a:fillRect/>
            </a:stretch>
          </a:blipFill>
        </p:spPr>
        <p:txBody>
          <a:bodyPr wrap="square" lIns="0" tIns="0" rIns="0" bIns="0" rtlCol="0"/>
          <a:lstStyle/>
          <a:p>
            <a:endParaRPr sz="1801"/>
          </a:p>
        </p:txBody>
      </p:sp>
      <p:sp>
        <p:nvSpPr>
          <p:cNvPr id="6" name="object 3">
            <a:extLst>
              <a:ext uri="{FF2B5EF4-FFF2-40B4-BE49-F238E27FC236}">
                <a16:creationId xmlns:a16="http://schemas.microsoft.com/office/drawing/2014/main" id="{62C93D4E-969A-A988-D9F7-1792D72D330C}"/>
              </a:ext>
            </a:extLst>
          </p:cNvPr>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sz="1801"/>
          </a:p>
        </p:txBody>
      </p:sp>
      <p:sp>
        <p:nvSpPr>
          <p:cNvPr id="7" name="object 4">
            <a:extLst>
              <a:ext uri="{FF2B5EF4-FFF2-40B4-BE49-F238E27FC236}">
                <a16:creationId xmlns:a16="http://schemas.microsoft.com/office/drawing/2014/main" id="{93429946-6B1A-34DB-9F19-3432A0B19F89}"/>
              </a:ext>
            </a:extLst>
          </p:cNvPr>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sz="1801"/>
          </a:p>
        </p:txBody>
      </p:sp>
      <p:sp>
        <p:nvSpPr>
          <p:cNvPr id="35" name="object 5">
            <a:extLst>
              <a:ext uri="{FF2B5EF4-FFF2-40B4-BE49-F238E27FC236}">
                <a16:creationId xmlns:a16="http://schemas.microsoft.com/office/drawing/2014/main" id="{C95FE390-A74A-C4AD-2E55-96C9FA0BB48F}"/>
              </a:ext>
            </a:extLst>
          </p:cNvPr>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sz="1801"/>
          </a:p>
        </p:txBody>
      </p:sp>
      <p:sp>
        <p:nvSpPr>
          <p:cNvPr id="36" name="object 25">
            <a:extLst>
              <a:ext uri="{FF2B5EF4-FFF2-40B4-BE49-F238E27FC236}">
                <a16:creationId xmlns:a16="http://schemas.microsoft.com/office/drawing/2014/main" id="{142D8A80-25B9-FA5E-D1C2-4B8EBA68CFA3}"/>
              </a:ext>
            </a:extLst>
          </p:cNvPr>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sz="1801"/>
          </a:p>
        </p:txBody>
      </p:sp>
      <p:sp>
        <p:nvSpPr>
          <p:cNvPr id="37" name="object 26">
            <a:extLst>
              <a:ext uri="{FF2B5EF4-FFF2-40B4-BE49-F238E27FC236}">
                <a16:creationId xmlns:a16="http://schemas.microsoft.com/office/drawing/2014/main" id="{2718CBBC-ED0C-7849-767C-D927C395C612}"/>
              </a:ext>
            </a:extLst>
          </p:cNvPr>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sz="1801"/>
          </a:p>
        </p:txBody>
      </p:sp>
      <p:sp>
        <p:nvSpPr>
          <p:cNvPr id="38" name="object 27">
            <a:extLst>
              <a:ext uri="{FF2B5EF4-FFF2-40B4-BE49-F238E27FC236}">
                <a16:creationId xmlns:a16="http://schemas.microsoft.com/office/drawing/2014/main" id="{F6509379-9A24-3FB0-01CC-AFD0BA5803ED}"/>
              </a:ext>
            </a:extLst>
          </p:cNvPr>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sz="1801"/>
          </a:p>
        </p:txBody>
      </p:sp>
      <p:sp>
        <p:nvSpPr>
          <p:cNvPr id="39" name="object 28">
            <a:extLst>
              <a:ext uri="{FF2B5EF4-FFF2-40B4-BE49-F238E27FC236}">
                <a16:creationId xmlns:a16="http://schemas.microsoft.com/office/drawing/2014/main" id="{58015160-55AB-7AB1-5F5C-1B659A748B3E}"/>
              </a:ext>
            </a:extLst>
          </p:cNvPr>
          <p:cNvSpPr txBox="1">
            <a:spLocks/>
          </p:cNvSpPr>
          <p:nvPr/>
        </p:nvSpPr>
        <p:spPr>
          <a:xfrm>
            <a:off x="4068310" y="698945"/>
            <a:ext cx="11776006" cy="1281375"/>
          </a:xfrm>
          <a:prstGeom prst="rect">
            <a:avLst/>
          </a:prstGeom>
        </p:spPr>
        <p:txBody>
          <a:bodyPr vert="horz" wrap="square" lIns="0" tIns="11429" rIns="0" bIns="0" rtlCol="0" anchor="ctr">
            <a:spAutoFit/>
          </a:bodyPr>
          <a:lstStyle>
            <a:lvl1pPr>
              <a:defRPr sz="4100" b="0" i="0">
                <a:solidFill>
                  <a:schemeClr val="bg1"/>
                </a:solidFill>
                <a:latin typeface="Arial"/>
                <a:ea typeface="+mj-ea"/>
                <a:cs typeface="Arial"/>
              </a:defRPr>
            </a:lvl1pPr>
          </a:lstStyle>
          <a:p>
            <a:pPr marR="54608">
              <a:lnSpc>
                <a:spcPts val="11249"/>
              </a:lnSpc>
              <a:spcBef>
                <a:spcPts val="91"/>
              </a:spcBef>
            </a:pPr>
            <a:r>
              <a:rPr lang="es-MX" sz="6600" b="1" kern="0" spc="-600" dirty="0" err="1">
                <a:solidFill>
                  <a:srgbClr val="1F3D6F"/>
                </a:solidFill>
              </a:rPr>
              <a:t>Gateways</a:t>
            </a:r>
            <a:r>
              <a:rPr lang="es-MX" sz="6600" b="1" kern="0" spc="-600" dirty="0">
                <a:solidFill>
                  <a:srgbClr val="1F3D6F"/>
                </a:solidFill>
              </a:rPr>
              <a:t> (Decisiones)</a:t>
            </a:r>
            <a:endParaRPr lang="es-MX" sz="6600" kern="0" spc="-405" dirty="0">
              <a:solidFill>
                <a:srgbClr val="1F3D6F"/>
              </a:solidFill>
            </a:endParaRPr>
          </a:p>
        </p:txBody>
      </p:sp>
      <p:sp>
        <p:nvSpPr>
          <p:cNvPr id="8" name="CuadroTexto 7">
            <a:extLst>
              <a:ext uri="{FF2B5EF4-FFF2-40B4-BE49-F238E27FC236}">
                <a16:creationId xmlns:a16="http://schemas.microsoft.com/office/drawing/2014/main" id="{C3425A38-EB35-8F71-60F4-774A59B5718D}"/>
              </a:ext>
            </a:extLst>
          </p:cNvPr>
          <p:cNvSpPr txBox="1"/>
          <p:nvPr/>
        </p:nvSpPr>
        <p:spPr>
          <a:xfrm>
            <a:off x="965236" y="3569103"/>
            <a:ext cx="14884838" cy="1569660"/>
          </a:xfrm>
          <a:prstGeom prst="rect">
            <a:avLst/>
          </a:prstGeom>
          <a:noFill/>
        </p:spPr>
        <p:txBody>
          <a:bodyPr wrap="square">
            <a:spAutoFit/>
          </a:bodyPr>
          <a:lstStyle/>
          <a:p>
            <a:pPr algn="just"/>
            <a:r>
              <a:rPr lang="es-MX" sz="3200" b="1" dirty="0">
                <a:latin typeface="Arial" panose="020B0604020202020204" pitchFamily="34" charset="0"/>
                <a:cs typeface="Arial" panose="020B0604020202020204" pitchFamily="34" charset="0"/>
              </a:rPr>
              <a:t>Los </a:t>
            </a:r>
            <a:r>
              <a:rPr lang="es-MX" sz="3200" b="1" dirty="0" err="1">
                <a:latin typeface="Arial" panose="020B0604020202020204" pitchFamily="34" charset="0"/>
                <a:cs typeface="Arial" panose="020B0604020202020204" pitchFamily="34" charset="0"/>
              </a:rPr>
              <a:t>gateways</a:t>
            </a:r>
            <a:r>
              <a:rPr lang="es-MX" sz="3200" b="1" dirty="0">
                <a:latin typeface="Arial" panose="020B0604020202020204" pitchFamily="34" charset="0"/>
                <a:cs typeface="Arial" panose="020B0604020202020204" pitchFamily="34" charset="0"/>
              </a:rPr>
              <a:t> controlan el flujo según decisiones o condiciones. </a:t>
            </a:r>
            <a:r>
              <a:rPr lang="es-MX" sz="3200" dirty="0">
                <a:latin typeface="Arial" panose="020B0604020202020204" pitchFamily="34" charset="0"/>
                <a:cs typeface="Arial" panose="020B0604020202020204" pitchFamily="34" charset="0"/>
              </a:rPr>
              <a:t>Permiten representar escenarios donde el proceso puede tomar distintos caminos o ejecutarse en paralelo.</a:t>
            </a:r>
            <a:endParaRPr lang="es-419" sz="3200" dirty="0">
              <a:latin typeface="Arial" panose="020B0604020202020204" pitchFamily="34" charset="0"/>
              <a:cs typeface="Arial" panose="020B0604020202020204" pitchFamily="34" charset="0"/>
            </a:endParaRPr>
          </a:p>
        </p:txBody>
      </p:sp>
      <p:sp>
        <p:nvSpPr>
          <p:cNvPr id="9" name="Rectangle 1">
            <a:extLst>
              <a:ext uri="{FF2B5EF4-FFF2-40B4-BE49-F238E27FC236}">
                <a16:creationId xmlns:a16="http://schemas.microsoft.com/office/drawing/2014/main" id="{34E55E08-3CC0-E8DD-D7E4-C66C107DAE23}"/>
              </a:ext>
            </a:extLst>
          </p:cNvPr>
          <p:cNvSpPr>
            <a:spLocks noChangeArrowheads="1"/>
          </p:cNvSpPr>
          <p:nvPr/>
        </p:nvSpPr>
        <p:spPr bwMode="auto">
          <a:xfrm>
            <a:off x="1050095" y="6914074"/>
            <a:ext cx="768650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Exclusivo (X): solo una ruta se ejecuta.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Inclusivo (O): se pueden ejecutar varias rutas.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Paralelo (+): todas las rutas se ejecutan simultáneamente.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Evento: espera a que ocurra un evento externo.</a:t>
            </a:r>
            <a:endParaRPr lang="es-419" altLang="es-419" sz="2400" dirty="0">
              <a:latin typeface="Arial" panose="020B0604020202020204" pitchFamily="34" charset="0"/>
              <a:cs typeface="Arial" panose="020B0604020202020204" pitchFamily="34" charset="0"/>
            </a:endParaRPr>
          </a:p>
        </p:txBody>
      </p:sp>
      <p:pic>
        <p:nvPicPr>
          <p:cNvPr id="5122" name="Picture 2" descr="Introducción a BPMN 2.0 Simbología">
            <a:extLst>
              <a:ext uri="{FF2B5EF4-FFF2-40B4-BE49-F238E27FC236}">
                <a16:creationId xmlns:a16="http://schemas.microsoft.com/office/drawing/2014/main" id="{E97B91D9-8292-A52E-17E9-C4A5EAAEC45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6249" t="46499" r="26010" b="26667"/>
          <a:stretch>
            <a:fillRect/>
          </a:stretch>
        </p:blipFill>
        <p:spPr bwMode="auto">
          <a:xfrm>
            <a:off x="9366250" y="6705321"/>
            <a:ext cx="5507489" cy="22026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4C6D-AEF8-4672-EAC5-7791ABE8080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FAA9266-70C0-DAC6-3B87-C169A7EACD0F}"/>
              </a:ext>
            </a:extLst>
          </p:cNvPr>
          <p:cNvSpPr/>
          <p:nvPr/>
        </p:nvSpPr>
        <p:spPr>
          <a:xfrm>
            <a:off x="1050095" y="398"/>
            <a:ext cx="2811863" cy="3474911"/>
          </a:xfrm>
          <a:prstGeom prst="rect">
            <a:avLst/>
          </a:prstGeom>
          <a:blipFill>
            <a:blip r:embed="rId3" cstate="print"/>
            <a:stretch>
              <a:fillRect/>
            </a:stretch>
          </a:blipFill>
        </p:spPr>
        <p:txBody>
          <a:bodyPr wrap="square" lIns="0" tIns="0" rIns="0" bIns="0" rtlCol="0"/>
          <a:lstStyle/>
          <a:p>
            <a:endParaRPr sz="1801"/>
          </a:p>
        </p:txBody>
      </p:sp>
      <p:sp>
        <p:nvSpPr>
          <p:cNvPr id="3" name="object 3">
            <a:extLst>
              <a:ext uri="{FF2B5EF4-FFF2-40B4-BE49-F238E27FC236}">
                <a16:creationId xmlns:a16="http://schemas.microsoft.com/office/drawing/2014/main" id="{77A36E11-B554-CC5B-F4A1-E28D2DDA9CFC}"/>
              </a:ext>
            </a:extLst>
          </p:cNvPr>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sz="1801"/>
          </a:p>
        </p:txBody>
      </p:sp>
      <p:sp>
        <p:nvSpPr>
          <p:cNvPr id="4" name="object 4">
            <a:extLst>
              <a:ext uri="{FF2B5EF4-FFF2-40B4-BE49-F238E27FC236}">
                <a16:creationId xmlns:a16="http://schemas.microsoft.com/office/drawing/2014/main" id="{0006C6E4-4C8F-EA98-826F-CD184E663EAB}"/>
              </a:ext>
            </a:extLst>
          </p:cNvPr>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sz="1801"/>
          </a:p>
        </p:txBody>
      </p:sp>
      <p:sp>
        <p:nvSpPr>
          <p:cNvPr id="5" name="object 5">
            <a:extLst>
              <a:ext uri="{FF2B5EF4-FFF2-40B4-BE49-F238E27FC236}">
                <a16:creationId xmlns:a16="http://schemas.microsoft.com/office/drawing/2014/main" id="{DA23B747-A7CC-0F4E-16BD-8786CF98BB18}"/>
              </a:ext>
            </a:extLst>
          </p:cNvPr>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sz="1801"/>
          </a:p>
        </p:txBody>
      </p:sp>
      <p:sp>
        <p:nvSpPr>
          <p:cNvPr id="6" name="object 6">
            <a:extLst>
              <a:ext uri="{FF2B5EF4-FFF2-40B4-BE49-F238E27FC236}">
                <a16:creationId xmlns:a16="http://schemas.microsoft.com/office/drawing/2014/main" id="{37AA5B4C-1F45-BCEA-CFCD-D8C582CE9629}"/>
              </a:ext>
            </a:extLst>
          </p:cNvPr>
          <p:cNvSpPr/>
          <p:nvPr/>
        </p:nvSpPr>
        <p:spPr>
          <a:xfrm>
            <a:off x="16754151" y="398"/>
            <a:ext cx="3349244" cy="7841880"/>
          </a:xfrm>
          <a:prstGeom prst="rect">
            <a:avLst/>
          </a:prstGeom>
          <a:blipFill>
            <a:blip r:embed="rId4" cstate="print"/>
            <a:stretch>
              <a:fillRect/>
            </a:stretch>
          </a:blipFill>
        </p:spPr>
        <p:txBody>
          <a:bodyPr wrap="square" lIns="0" tIns="0" rIns="0" bIns="0" rtlCol="0"/>
          <a:lstStyle/>
          <a:p>
            <a:endParaRPr sz="1801"/>
          </a:p>
        </p:txBody>
      </p:sp>
      <p:sp>
        <p:nvSpPr>
          <p:cNvPr id="7" name="object 7">
            <a:extLst>
              <a:ext uri="{FF2B5EF4-FFF2-40B4-BE49-F238E27FC236}">
                <a16:creationId xmlns:a16="http://schemas.microsoft.com/office/drawing/2014/main" id="{AC587EC1-ADAC-F912-6AF4-17208EE0FAA3}"/>
              </a:ext>
            </a:extLst>
          </p:cNvPr>
          <p:cNvSpPr/>
          <p:nvPr/>
        </p:nvSpPr>
        <p:spPr>
          <a:xfrm>
            <a:off x="16775168" y="5955483"/>
            <a:ext cx="3328436" cy="5352674"/>
          </a:xfrm>
          <a:custGeom>
            <a:avLst/>
            <a:gdLst/>
            <a:ahLst/>
            <a:cxnLst/>
            <a:rect l="l" t="t" r="r" b="b"/>
            <a:pathLst>
              <a:path w="3328669" h="5353050">
                <a:moveTo>
                  <a:pt x="0" y="0"/>
                </a:moveTo>
                <a:lnTo>
                  <a:pt x="0" y="5353051"/>
                </a:lnTo>
                <a:lnTo>
                  <a:pt x="3328453" y="5353051"/>
                </a:lnTo>
                <a:lnTo>
                  <a:pt x="3328453" y="141451"/>
                </a:lnTo>
                <a:lnTo>
                  <a:pt x="0" y="0"/>
                </a:lnTo>
                <a:close/>
              </a:path>
            </a:pathLst>
          </a:custGeom>
          <a:solidFill>
            <a:srgbClr val="834E3E"/>
          </a:solidFill>
        </p:spPr>
        <p:txBody>
          <a:bodyPr wrap="square" lIns="0" tIns="0" rIns="0" bIns="0" rtlCol="0"/>
          <a:lstStyle/>
          <a:p>
            <a:endParaRPr sz="1801"/>
          </a:p>
        </p:txBody>
      </p:sp>
      <p:sp>
        <p:nvSpPr>
          <p:cNvPr id="8" name="object 8">
            <a:extLst>
              <a:ext uri="{FF2B5EF4-FFF2-40B4-BE49-F238E27FC236}">
                <a16:creationId xmlns:a16="http://schemas.microsoft.com/office/drawing/2014/main" id="{37F46E0D-37E5-3D40-18A4-F2BC36ED4361}"/>
              </a:ext>
            </a:extLst>
          </p:cNvPr>
          <p:cNvSpPr/>
          <p:nvPr/>
        </p:nvSpPr>
        <p:spPr>
          <a:xfrm>
            <a:off x="16775163" y="6196288"/>
            <a:ext cx="3328231" cy="5111871"/>
          </a:xfrm>
          <a:prstGeom prst="rect">
            <a:avLst/>
          </a:prstGeom>
          <a:blipFill>
            <a:blip r:embed="rId5" cstate="print"/>
            <a:stretch>
              <a:fillRect/>
            </a:stretch>
          </a:blipFill>
        </p:spPr>
        <p:txBody>
          <a:bodyPr wrap="square" lIns="0" tIns="0" rIns="0" bIns="0" rtlCol="0"/>
          <a:lstStyle/>
          <a:p>
            <a:endParaRPr sz="1801"/>
          </a:p>
        </p:txBody>
      </p:sp>
      <p:sp>
        <p:nvSpPr>
          <p:cNvPr id="22" name="object 22">
            <a:extLst>
              <a:ext uri="{FF2B5EF4-FFF2-40B4-BE49-F238E27FC236}">
                <a16:creationId xmlns:a16="http://schemas.microsoft.com/office/drawing/2014/main" id="{CFE11835-E8D6-E41C-F753-3F4B351EEC17}"/>
              </a:ext>
            </a:extLst>
          </p:cNvPr>
          <p:cNvSpPr/>
          <p:nvPr/>
        </p:nvSpPr>
        <p:spPr>
          <a:xfrm>
            <a:off x="18321276" y="5470297"/>
            <a:ext cx="1782319" cy="241919"/>
          </a:xfrm>
          <a:custGeom>
            <a:avLst/>
            <a:gdLst/>
            <a:ahLst/>
            <a:cxnLst/>
            <a:rect l="l" t="t" r="r" b="b"/>
            <a:pathLst>
              <a:path w="1782444" h="241935">
                <a:moveTo>
                  <a:pt x="1782244" y="0"/>
                </a:moveTo>
                <a:lnTo>
                  <a:pt x="0" y="0"/>
                </a:lnTo>
                <a:lnTo>
                  <a:pt x="31412" y="241634"/>
                </a:lnTo>
                <a:lnTo>
                  <a:pt x="1782244" y="241634"/>
                </a:lnTo>
                <a:lnTo>
                  <a:pt x="1782244" y="0"/>
                </a:lnTo>
                <a:close/>
              </a:path>
            </a:pathLst>
          </a:custGeom>
          <a:solidFill>
            <a:srgbClr val="1F3D6F">
              <a:alpha val="51998"/>
            </a:srgbClr>
          </a:solidFill>
        </p:spPr>
        <p:txBody>
          <a:bodyPr wrap="square" lIns="0" tIns="0" rIns="0" bIns="0" rtlCol="0"/>
          <a:lstStyle/>
          <a:p>
            <a:endParaRPr sz="1801"/>
          </a:p>
        </p:txBody>
      </p:sp>
      <p:sp>
        <p:nvSpPr>
          <p:cNvPr id="23" name="object 23">
            <a:extLst>
              <a:ext uri="{FF2B5EF4-FFF2-40B4-BE49-F238E27FC236}">
                <a16:creationId xmlns:a16="http://schemas.microsoft.com/office/drawing/2014/main" id="{E6E83E92-FB62-D0DC-0015-56C2D2B3F01F}"/>
              </a:ext>
            </a:extLst>
          </p:cNvPr>
          <p:cNvSpPr/>
          <p:nvPr/>
        </p:nvSpPr>
        <p:spPr>
          <a:xfrm>
            <a:off x="17726566" y="5403675"/>
            <a:ext cx="2376828" cy="540255"/>
          </a:xfrm>
          <a:prstGeom prst="rect">
            <a:avLst/>
          </a:prstGeom>
          <a:blipFill>
            <a:blip r:embed="rId6" cstate="print"/>
            <a:stretch>
              <a:fillRect/>
            </a:stretch>
          </a:blipFill>
        </p:spPr>
        <p:txBody>
          <a:bodyPr wrap="square" lIns="0" tIns="0" rIns="0" bIns="0" rtlCol="0"/>
          <a:lstStyle/>
          <a:p>
            <a:endParaRPr sz="1801"/>
          </a:p>
        </p:txBody>
      </p:sp>
      <p:sp>
        <p:nvSpPr>
          <p:cNvPr id="24" name="object 24">
            <a:extLst>
              <a:ext uri="{FF2B5EF4-FFF2-40B4-BE49-F238E27FC236}">
                <a16:creationId xmlns:a16="http://schemas.microsoft.com/office/drawing/2014/main" id="{B12DC800-E4CF-1BDA-6ADC-4A177CAE0ED5}"/>
              </a:ext>
            </a:extLst>
          </p:cNvPr>
          <p:cNvSpPr txBox="1"/>
          <p:nvPr/>
        </p:nvSpPr>
        <p:spPr>
          <a:xfrm>
            <a:off x="18519552" y="5451717"/>
            <a:ext cx="142103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 Ad</a:t>
            </a:r>
            <a:r>
              <a:rPr sz="1400" spc="-16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25" name="object 25">
            <a:extLst>
              <a:ext uri="{FF2B5EF4-FFF2-40B4-BE49-F238E27FC236}">
                <a16:creationId xmlns:a16="http://schemas.microsoft.com/office/drawing/2014/main" id="{3A80764A-AED7-753F-A9A6-29C687C1670B}"/>
              </a:ext>
            </a:extLst>
          </p:cNvPr>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sz="1801"/>
          </a:p>
        </p:txBody>
      </p:sp>
      <p:sp>
        <p:nvSpPr>
          <p:cNvPr id="26" name="object 26">
            <a:extLst>
              <a:ext uri="{FF2B5EF4-FFF2-40B4-BE49-F238E27FC236}">
                <a16:creationId xmlns:a16="http://schemas.microsoft.com/office/drawing/2014/main" id="{4187ED94-C90A-F4A3-239D-E43A81C86B64}"/>
              </a:ext>
            </a:extLst>
          </p:cNvPr>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sz="1801"/>
          </a:p>
        </p:txBody>
      </p:sp>
      <p:sp>
        <p:nvSpPr>
          <p:cNvPr id="27" name="object 27">
            <a:extLst>
              <a:ext uri="{FF2B5EF4-FFF2-40B4-BE49-F238E27FC236}">
                <a16:creationId xmlns:a16="http://schemas.microsoft.com/office/drawing/2014/main" id="{49364263-98B6-40E3-0E42-60B48442E7D3}"/>
              </a:ext>
            </a:extLst>
          </p:cNvPr>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sz="1801"/>
          </a:p>
        </p:txBody>
      </p:sp>
      <p:sp>
        <p:nvSpPr>
          <p:cNvPr id="34" name="object 34">
            <a:extLst>
              <a:ext uri="{FF2B5EF4-FFF2-40B4-BE49-F238E27FC236}">
                <a16:creationId xmlns:a16="http://schemas.microsoft.com/office/drawing/2014/main" id="{E5F19061-12C3-D059-C2A2-2FD99D0D592B}"/>
              </a:ext>
            </a:extLst>
          </p:cNvPr>
          <p:cNvSpPr txBox="1"/>
          <p:nvPr/>
        </p:nvSpPr>
        <p:spPr>
          <a:xfrm>
            <a:off x="17081642" y="6873790"/>
            <a:ext cx="2647129" cy="1000017"/>
          </a:xfrm>
          <a:prstGeom prst="rect">
            <a:avLst/>
          </a:prstGeom>
        </p:spPr>
        <p:txBody>
          <a:bodyPr vert="horz" wrap="square" lIns="0" tIns="15240" rIns="0" bIns="0" rtlCol="0">
            <a:spAutoFit/>
          </a:bodyPr>
          <a:lstStyle/>
          <a:p>
            <a:pPr algn="ctr">
              <a:spcBef>
                <a:spcPts val="120"/>
              </a:spcBef>
            </a:pPr>
            <a:r>
              <a:rPr sz="3199" spc="-64" dirty="0">
                <a:solidFill>
                  <a:srgbClr val="FFFFFF"/>
                </a:solidFill>
                <a:latin typeface="Arial"/>
                <a:cs typeface="Arial"/>
              </a:rPr>
              <a:t>Facultad</a:t>
            </a:r>
            <a:r>
              <a:rPr sz="3199" spc="-241" dirty="0">
                <a:solidFill>
                  <a:srgbClr val="FFFFFF"/>
                </a:solidFill>
                <a:latin typeface="Arial"/>
                <a:cs typeface="Arial"/>
              </a:rPr>
              <a:t> </a:t>
            </a:r>
            <a:r>
              <a:rPr sz="3199" spc="-74" dirty="0">
                <a:solidFill>
                  <a:srgbClr val="FFFFFF"/>
                </a:solidFill>
                <a:latin typeface="Arial"/>
                <a:cs typeface="Arial"/>
              </a:rPr>
              <a:t>de</a:t>
            </a:r>
            <a:endParaRPr sz="3199" dirty="0">
              <a:latin typeface="Arial"/>
              <a:cs typeface="Arial"/>
            </a:endParaRPr>
          </a:p>
          <a:p>
            <a:pPr algn="ctr">
              <a:spcBef>
                <a:spcPts val="30"/>
              </a:spcBef>
            </a:pPr>
            <a:r>
              <a:rPr sz="3199" b="1" spc="-74" dirty="0">
                <a:solidFill>
                  <a:srgbClr val="FFFFFF"/>
                </a:solidFill>
                <a:latin typeface="Arial"/>
                <a:cs typeface="Arial"/>
              </a:rPr>
              <a:t>Ingeniería</a:t>
            </a:r>
            <a:endParaRPr sz="3199" dirty="0">
              <a:latin typeface="Arial"/>
              <a:cs typeface="Arial"/>
            </a:endParaRPr>
          </a:p>
        </p:txBody>
      </p:sp>
      <p:pic>
        <p:nvPicPr>
          <p:cNvPr id="35" name="Imagen 34" descr="Imagen que contiene dibujo&#10;&#10;Descripción generada automáticamente">
            <a:extLst>
              <a:ext uri="{FF2B5EF4-FFF2-40B4-BE49-F238E27FC236}">
                <a16:creationId xmlns:a16="http://schemas.microsoft.com/office/drawing/2014/main" id="{5590A484-9ED5-327D-F79A-4E4A0239BE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081643" y="8564854"/>
            <a:ext cx="2726257" cy="1949273"/>
          </a:xfrm>
          <a:prstGeom prst="rect">
            <a:avLst/>
          </a:prstGeom>
        </p:spPr>
      </p:pic>
      <p:sp>
        <p:nvSpPr>
          <p:cNvPr id="36" name="object 21">
            <a:extLst>
              <a:ext uri="{FF2B5EF4-FFF2-40B4-BE49-F238E27FC236}">
                <a16:creationId xmlns:a16="http://schemas.microsoft.com/office/drawing/2014/main" id="{A4A69648-1F1A-A288-CCC0-D2437E706CE3}"/>
              </a:ext>
            </a:extLst>
          </p:cNvPr>
          <p:cNvSpPr/>
          <p:nvPr/>
        </p:nvSpPr>
        <p:spPr>
          <a:xfrm rot="5400000">
            <a:off x="18434590" y="7247477"/>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dirty="0"/>
          </a:p>
        </p:txBody>
      </p:sp>
      <p:sp>
        <p:nvSpPr>
          <p:cNvPr id="11" name="object 28">
            <a:extLst>
              <a:ext uri="{FF2B5EF4-FFF2-40B4-BE49-F238E27FC236}">
                <a16:creationId xmlns:a16="http://schemas.microsoft.com/office/drawing/2014/main" id="{246EBFB9-DA73-30DF-BDF7-8ED5CB8CDD64}"/>
              </a:ext>
            </a:extLst>
          </p:cNvPr>
          <p:cNvSpPr txBox="1">
            <a:spLocks/>
          </p:cNvSpPr>
          <p:nvPr/>
        </p:nvSpPr>
        <p:spPr>
          <a:xfrm>
            <a:off x="4085861" y="698945"/>
            <a:ext cx="11776006" cy="1281375"/>
          </a:xfrm>
          <a:prstGeom prst="rect">
            <a:avLst/>
          </a:prstGeom>
        </p:spPr>
        <p:txBody>
          <a:bodyPr vert="horz" wrap="square" lIns="0" tIns="11429" rIns="0" bIns="0" rtlCol="0" anchor="ctr">
            <a:spAutoFit/>
          </a:bodyPr>
          <a:lstStyle>
            <a:lvl1pPr>
              <a:defRPr sz="4100" b="0" i="0">
                <a:solidFill>
                  <a:schemeClr val="bg1"/>
                </a:solidFill>
                <a:latin typeface="Arial"/>
                <a:ea typeface="+mj-ea"/>
                <a:cs typeface="Arial"/>
              </a:defRPr>
            </a:lvl1pPr>
          </a:lstStyle>
          <a:p>
            <a:pPr marR="54608">
              <a:lnSpc>
                <a:spcPts val="11249"/>
              </a:lnSpc>
              <a:spcBef>
                <a:spcPts val="91"/>
              </a:spcBef>
            </a:pPr>
            <a:r>
              <a:rPr lang="es-MX" sz="6600" b="1" kern="0" spc="-600" dirty="0">
                <a:solidFill>
                  <a:srgbClr val="1F3D6F"/>
                </a:solidFill>
              </a:rPr>
              <a:t>Eventos BPMN</a:t>
            </a:r>
            <a:endParaRPr lang="es-MX" sz="6600" kern="0" spc="-405" dirty="0">
              <a:solidFill>
                <a:srgbClr val="1F3D6F"/>
              </a:solidFill>
            </a:endParaRPr>
          </a:p>
        </p:txBody>
      </p:sp>
      <p:sp>
        <p:nvSpPr>
          <p:cNvPr id="13" name="CuadroTexto 12">
            <a:extLst>
              <a:ext uri="{FF2B5EF4-FFF2-40B4-BE49-F238E27FC236}">
                <a16:creationId xmlns:a16="http://schemas.microsoft.com/office/drawing/2014/main" id="{96FA0D56-37F3-853C-BFF9-8865781ACDE9}"/>
              </a:ext>
            </a:extLst>
          </p:cNvPr>
          <p:cNvSpPr txBox="1"/>
          <p:nvPr/>
        </p:nvSpPr>
        <p:spPr>
          <a:xfrm>
            <a:off x="965236" y="3569103"/>
            <a:ext cx="14884838" cy="1569660"/>
          </a:xfrm>
          <a:prstGeom prst="rect">
            <a:avLst/>
          </a:prstGeom>
          <a:noFill/>
        </p:spPr>
        <p:txBody>
          <a:bodyPr wrap="square">
            <a:spAutoFit/>
          </a:bodyPr>
          <a:lstStyle/>
          <a:p>
            <a:pPr algn="just"/>
            <a:r>
              <a:rPr lang="es-MX" sz="3200" b="1" dirty="0">
                <a:latin typeface="Arial" panose="020B0604020202020204" pitchFamily="34" charset="0"/>
                <a:cs typeface="Arial" panose="020B0604020202020204" pitchFamily="34" charset="0"/>
              </a:rPr>
              <a:t>Los eventos marcan momentos clave en el proceso: cuándo inicia, se interrumpe o termina. </a:t>
            </a:r>
            <a:r>
              <a:rPr lang="es-MX" sz="3200" dirty="0">
                <a:latin typeface="Arial" panose="020B0604020202020204" pitchFamily="34" charset="0"/>
                <a:cs typeface="Arial" panose="020B0604020202020204" pitchFamily="34" charset="0"/>
              </a:rPr>
              <a:t>Son esenciales para representar interacciones, errores o condiciones temporales.</a:t>
            </a:r>
            <a:endParaRPr lang="es-419" sz="3200" dirty="0">
              <a:latin typeface="Arial" panose="020B0604020202020204" pitchFamily="34" charset="0"/>
              <a:cs typeface="Arial" panose="020B0604020202020204" pitchFamily="34" charset="0"/>
            </a:endParaRPr>
          </a:p>
        </p:txBody>
      </p:sp>
      <p:sp>
        <p:nvSpPr>
          <p:cNvPr id="14" name="Rectangle 1">
            <a:extLst>
              <a:ext uri="{FF2B5EF4-FFF2-40B4-BE49-F238E27FC236}">
                <a16:creationId xmlns:a16="http://schemas.microsoft.com/office/drawing/2014/main" id="{36595502-157C-5E22-77C4-F8BD91D9EBAC}"/>
              </a:ext>
            </a:extLst>
          </p:cNvPr>
          <p:cNvSpPr>
            <a:spLocks noChangeArrowheads="1"/>
          </p:cNvSpPr>
          <p:nvPr/>
        </p:nvSpPr>
        <p:spPr bwMode="auto">
          <a:xfrm>
            <a:off x="765343" y="6705321"/>
            <a:ext cx="636180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Inicio: puede activarse por mensaje, tiempo o condición.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Intermedio: representa esperas, errores o eventos intermedios.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Fin: cierra el proceso con o sin acción adicional.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419" sz="2400" dirty="0">
                <a:latin typeface="Arial" panose="020B0604020202020204" pitchFamily="34" charset="0"/>
                <a:cs typeface="Arial" panose="020B0604020202020204" pitchFamily="34" charset="0"/>
              </a:rPr>
              <a:t>Iconos internos indican el tipo de evento.</a:t>
            </a:r>
            <a:endParaRPr lang="es-419" altLang="es-419" sz="2400" dirty="0">
              <a:latin typeface="Arial" panose="020B0604020202020204" pitchFamily="34" charset="0"/>
              <a:cs typeface="Arial" panose="020B0604020202020204" pitchFamily="34" charset="0"/>
            </a:endParaRPr>
          </a:p>
        </p:txBody>
      </p:sp>
      <p:pic>
        <p:nvPicPr>
          <p:cNvPr id="3074" name="Picture 2" descr="BPM y Java Open Source - AITOR RODRÍGUEZ WEBLOG">
            <a:extLst>
              <a:ext uri="{FF2B5EF4-FFF2-40B4-BE49-F238E27FC236}">
                <a16:creationId xmlns:a16="http://schemas.microsoft.com/office/drawing/2014/main" id="{CF5FDB94-9AA5-26EB-AAE4-6B8966F8AD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3869" y="5779982"/>
            <a:ext cx="9261966" cy="4572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6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sz="1801"/>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sz="1801"/>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sz="1801"/>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Aulas</a:t>
            </a:r>
            <a:r>
              <a:rPr sz="1400" spc="-150" dirty="0">
                <a:solidFill>
                  <a:srgbClr val="FFFFFF"/>
                </a:solidFill>
                <a:latin typeface="Arial"/>
                <a:cs typeface="Arial"/>
              </a:rPr>
              <a:t> </a:t>
            </a:r>
            <a:r>
              <a:rPr sz="1400" dirty="0">
                <a:solidFill>
                  <a:srgbClr val="FFFFFF"/>
                </a:solidFill>
                <a:latin typeface="Arial"/>
                <a:cs typeface="Arial"/>
              </a:rPr>
              <a:t>Atelier</a:t>
            </a:r>
            <a:endParaRPr sz="140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pic>
        <p:nvPicPr>
          <p:cNvPr id="6148" name="Picture 4" descr="Notación BPMN (2025): Guía de Símbolos, Ejemplos y Modelado de Procesos de  Negocio">
            <a:extLst>
              <a:ext uri="{FF2B5EF4-FFF2-40B4-BE49-F238E27FC236}">
                <a16:creationId xmlns:a16="http://schemas.microsoft.com/office/drawing/2014/main" id="{F4799945-3B51-C87A-7233-6A212DAA3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89350" y="1914107"/>
            <a:ext cx="12725399" cy="7147141"/>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EE95D3C8-566C-9DEB-837E-386095802276}"/>
              </a:ext>
            </a:extLst>
          </p:cNvPr>
          <p:cNvSpPr txBox="1"/>
          <p:nvPr/>
        </p:nvSpPr>
        <p:spPr>
          <a:xfrm>
            <a:off x="3179603" y="403576"/>
            <a:ext cx="13744894" cy="1367938"/>
          </a:xfrm>
          <a:prstGeom prst="rect">
            <a:avLst/>
          </a:prstGeom>
        </p:spPr>
        <p:txBody>
          <a:bodyPr vert="horz" wrap="square" lIns="0" tIns="11429" rIns="0" bIns="0" rtlCol="0">
            <a:spAutoFit/>
          </a:bodyPr>
          <a:lstStyle/>
          <a:p>
            <a:pPr marL="12699" algn="ctr">
              <a:lnSpc>
                <a:spcPts val="11380"/>
              </a:lnSpc>
              <a:spcBef>
                <a:spcPts val="91"/>
              </a:spcBef>
            </a:pPr>
            <a:r>
              <a:rPr lang="es-MX" sz="8905" b="1" spc="-600" dirty="0">
                <a:solidFill>
                  <a:srgbClr val="1F3D6F"/>
                </a:solidFill>
                <a:latin typeface="Arial"/>
                <a:cs typeface="Arial"/>
              </a:rPr>
              <a:t>Ejemplo de proceso sencillo</a:t>
            </a:r>
            <a:endParaRPr sz="8905" dirty="0">
              <a:latin typeface="Arial"/>
              <a:cs typeface="Arial"/>
            </a:endParaRPr>
          </a:p>
        </p:txBody>
      </p:sp>
    </p:spTree>
    <p:extLst>
      <p:ext uri="{BB962C8B-B14F-4D97-AF65-F5344CB8AC3E}">
        <p14:creationId xmlns:p14="http://schemas.microsoft.com/office/powerpoint/2010/main" val="2959069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sz="1801"/>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sz="1801"/>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sz="1801"/>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Aulas</a:t>
            </a:r>
            <a:r>
              <a:rPr sz="1400" spc="-150" dirty="0">
                <a:solidFill>
                  <a:srgbClr val="FFFFFF"/>
                </a:solidFill>
                <a:latin typeface="Arial"/>
                <a:cs typeface="Arial"/>
              </a:rPr>
              <a:t> </a:t>
            </a:r>
            <a:r>
              <a:rPr sz="1400" dirty="0">
                <a:solidFill>
                  <a:srgbClr val="FFFFFF"/>
                </a:solidFill>
                <a:latin typeface="Arial"/>
                <a:cs typeface="Arial"/>
              </a:rPr>
              <a:t>Atelier</a:t>
            </a:r>
            <a:endParaRPr sz="140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pic>
        <p:nvPicPr>
          <p:cNvPr id="6148" name="Picture 4" descr="Notación BPMN (2025): Guía de Símbolos, Ejemplos y Modelado de Procesos de  Negocio">
            <a:extLst>
              <a:ext uri="{FF2B5EF4-FFF2-40B4-BE49-F238E27FC236}">
                <a16:creationId xmlns:a16="http://schemas.microsoft.com/office/drawing/2014/main" id="{F4799945-3B51-C87A-7233-6A212DAA3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4474" y="2650000"/>
            <a:ext cx="11415150" cy="6411248"/>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EE95D3C8-566C-9DEB-837E-386095802276}"/>
              </a:ext>
            </a:extLst>
          </p:cNvPr>
          <p:cNvSpPr txBox="1"/>
          <p:nvPr/>
        </p:nvSpPr>
        <p:spPr>
          <a:xfrm>
            <a:off x="3179603" y="403576"/>
            <a:ext cx="13744894" cy="950000"/>
          </a:xfrm>
          <a:prstGeom prst="rect">
            <a:avLst/>
          </a:prstGeom>
        </p:spPr>
        <p:txBody>
          <a:bodyPr vert="horz" wrap="square" lIns="0" tIns="11429" rIns="0" bIns="0" rtlCol="0">
            <a:spAutoFit/>
          </a:bodyPr>
          <a:lstStyle/>
          <a:p>
            <a:pPr marL="12699" algn="ctr">
              <a:lnSpc>
                <a:spcPts val="11380"/>
              </a:lnSpc>
              <a:spcBef>
                <a:spcPts val="91"/>
              </a:spcBef>
            </a:pPr>
            <a:r>
              <a:rPr lang="es-MX" sz="4400" b="1" spc="-600" dirty="0">
                <a:solidFill>
                  <a:srgbClr val="1F3D6F"/>
                </a:solidFill>
                <a:latin typeface="Arial"/>
                <a:cs typeface="Arial"/>
              </a:rPr>
              <a:t>Paso 1 · Actores y carriles</a:t>
            </a:r>
            <a:endParaRPr sz="4400" dirty="0">
              <a:latin typeface="Arial"/>
              <a:cs typeface="Arial"/>
            </a:endParaRPr>
          </a:p>
        </p:txBody>
      </p:sp>
      <p:sp>
        <p:nvSpPr>
          <p:cNvPr id="9001" name="caption"/>
          <p:cNvSpPr txBox="1"/>
          <p:nvPr/>
        </p:nvSpPr>
        <p:spPr>
          <a:xfrm>
            <a:off x="3689350" y="1950000"/>
            <a:ext cx="12725399" cy="430000"/>
          </a:xfrm>
          <a:prstGeom prst="rect">
            <a:avLst/>
          </a:prstGeom>
        </p:spPr>
        <p:txBody>
          <a:bodyPr vert="horz" wrap="square" lIns="0" tIns="0" rIns="0" bIns="0" rtlCol="0" anchor="t"/>
          <a:lstStyle/>
          <a:p>
            <a:pPr marL="12699" algn="ctr"/>
            <a:r>
              <a:rPr lang="es-MX" sz="1600" dirty="0">
                <a:solidFill>
                  <a:srgbClr val="222222"/>
                </a:solidFill>
                <a:latin typeface="Arial"/>
                <a:cs typeface="Arial"/>
              </a:rPr>
              <a:t>Primero se definen los actores del proceso y sus carriles (lanes).</a:t>
            </a:r>
            <a:endParaRPr sz="1600">
              <a:latin typeface="Arial"/>
              <a:cs typeface="Arial"/>
            </a:endParaRPr>
          </a:p>
        </p:txBody>
      </p:sp>
    </p:spTree>
    <p:extLst>
      <p:ext uri="{BB962C8B-B14F-4D97-AF65-F5344CB8AC3E}">
        <p14:creationId xmlns:p14="http://schemas.microsoft.com/office/powerpoint/2010/main" val="2959069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sz="1801"/>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sz="1801"/>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sz="1801"/>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Aulas</a:t>
            </a:r>
            <a:r>
              <a:rPr sz="1400" spc="-150" dirty="0">
                <a:solidFill>
                  <a:srgbClr val="FFFFFF"/>
                </a:solidFill>
                <a:latin typeface="Arial"/>
                <a:cs typeface="Arial"/>
              </a:rPr>
              <a:t> </a:t>
            </a:r>
            <a:r>
              <a:rPr sz="1400" dirty="0">
                <a:solidFill>
                  <a:srgbClr val="FFFFFF"/>
                </a:solidFill>
                <a:latin typeface="Arial"/>
                <a:cs typeface="Arial"/>
              </a:rPr>
              <a:t>Atelier</a:t>
            </a:r>
            <a:endParaRPr sz="140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pic>
        <p:nvPicPr>
          <p:cNvPr id="6148" name="Picture 4" descr="Notación BPMN (2025): Guía de Símbolos, Ejemplos y Modelado de Procesos de  Negocio">
            <a:extLst>
              <a:ext uri="{FF2B5EF4-FFF2-40B4-BE49-F238E27FC236}">
                <a16:creationId xmlns:a16="http://schemas.microsoft.com/office/drawing/2014/main" id="{F4799945-3B51-C87A-7233-6A212DAA3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4474" y="2650000"/>
            <a:ext cx="11415150" cy="6411248"/>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EE95D3C8-566C-9DEB-837E-386095802276}"/>
              </a:ext>
            </a:extLst>
          </p:cNvPr>
          <p:cNvSpPr txBox="1"/>
          <p:nvPr/>
        </p:nvSpPr>
        <p:spPr>
          <a:xfrm>
            <a:off x="3179603" y="403576"/>
            <a:ext cx="13744894" cy="950000"/>
          </a:xfrm>
          <a:prstGeom prst="rect">
            <a:avLst/>
          </a:prstGeom>
        </p:spPr>
        <p:txBody>
          <a:bodyPr vert="horz" wrap="square" lIns="0" tIns="11429" rIns="0" bIns="0" rtlCol="0">
            <a:spAutoFit/>
          </a:bodyPr>
          <a:lstStyle/>
          <a:p>
            <a:pPr marL="12699" algn="ctr">
              <a:lnSpc>
                <a:spcPts val="11380"/>
              </a:lnSpc>
              <a:spcBef>
                <a:spcPts val="91"/>
              </a:spcBef>
            </a:pPr>
            <a:r>
              <a:rPr lang="es-MX" sz="4400" b="1" spc="-600" dirty="0">
                <a:solidFill>
                  <a:srgbClr val="1F3D6F"/>
                </a:solidFill>
                <a:latin typeface="Arial"/>
                <a:cs typeface="Arial"/>
              </a:rPr>
              <a:t>Paso 2 · Inicio y primera actividad</a:t>
            </a:r>
            <a:endParaRPr sz="4400" dirty="0">
              <a:latin typeface="Arial"/>
              <a:cs typeface="Arial"/>
            </a:endParaRPr>
          </a:p>
        </p:txBody>
      </p:sp>
      <p:sp>
        <p:nvSpPr>
          <p:cNvPr id="9001" name="caption"/>
          <p:cNvSpPr txBox="1"/>
          <p:nvPr/>
        </p:nvSpPr>
        <p:spPr>
          <a:xfrm>
            <a:off x="3689350" y="1950000"/>
            <a:ext cx="12725399" cy="430000"/>
          </a:xfrm>
          <a:prstGeom prst="rect">
            <a:avLst/>
          </a:prstGeom>
        </p:spPr>
        <p:txBody>
          <a:bodyPr vert="horz" wrap="square" lIns="0" tIns="0" rIns="0" bIns="0" rtlCol="0" anchor="t"/>
          <a:lstStyle/>
          <a:p>
            <a:pPr marL="12699" algn="ctr"/>
            <a:r>
              <a:rPr lang="es-MX" sz="1600" dirty="0">
                <a:solidFill>
                  <a:srgbClr val="222222"/>
                </a:solidFill>
                <a:latin typeface="Arial"/>
                <a:cs typeface="Arial"/>
              </a:rPr>
              <a:t>Se agrega el evento de inicio y la primera actividad del proceso.</a:t>
            </a:r>
            <a:endParaRPr sz="1600">
              <a:latin typeface="Arial"/>
              <a:cs typeface="Arial"/>
            </a:endParaRPr>
          </a:p>
        </p:txBody>
      </p:sp>
    </p:spTree>
    <p:extLst>
      <p:ext uri="{BB962C8B-B14F-4D97-AF65-F5344CB8AC3E}">
        <p14:creationId xmlns:p14="http://schemas.microsoft.com/office/powerpoint/2010/main" val="2959069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sz="1801"/>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sz="1801"/>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sz="1801"/>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Aulas</a:t>
            </a:r>
            <a:r>
              <a:rPr sz="1400" spc="-150" dirty="0">
                <a:solidFill>
                  <a:srgbClr val="FFFFFF"/>
                </a:solidFill>
                <a:latin typeface="Arial"/>
                <a:cs typeface="Arial"/>
              </a:rPr>
              <a:t> </a:t>
            </a:r>
            <a:r>
              <a:rPr sz="1400" dirty="0">
                <a:solidFill>
                  <a:srgbClr val="FFFFFF"/>
                </a:solidFill>
                <a:latin typeface="Arial"/>
                <a:cs typeface="Arial"/>
              </a:rPr>
              <a:t>Atelier</a:t>
            </a:r>
            <a:endParaRPr sz="140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pic>
        <p:nvPicPr>
          <p:cNvPr id="6148" name="Picture 4" descr="Notación BPMN (2025): Guía de Símbolos, Ejemplos y Modelado de Procesos de  Negocio">
            <a:extLst>
              <a:ext uri="{FF2B5EF4-FFF2-40B4-BE49-F238E27FC236}">
                <a16:creationId xmlns:a16="http://schemas.microsoft.com/office/drawing/2014/main" id="{F4799945-3B51-C87A-7233-6A212DAA3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4474" y="2650000"/>
            <a:ext cx="11415150" cy="6411248"/>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EE95D3C8-566C-9DEB-837E-386095802276}"/>
              </a:ext>
            </a:extLst>
          </p:cNvPr>
          <p:cNvSpPr txBox="1"/>
          <p:nvPr/>
        </p:nvSpPr>
        <p:spPr>
          <a:xfrm>
            <a:off x="3179603" y="403576"/>
            <a:ext cx="13744894" cy="950000"/>
          </a:xfrm>
          <a:prstGeom prst="rect">
            <a:avLst/>
          </a:prstGeom>
        </p:spPr>
        <p:txBody>
          <a:bodyPr vert="horz" wrap="square" lIns="0" tIns="11429" rIns="0" bIns="0" rtlCol="0">
            <a:spAutoFit/>
          </a:bodyPr>
          <a:lstStyle/>
          <a:p>
            <a:pPr marL="12699" algn="ctr">
              <a:lnSpc>
                <a:spcPts val="11380"/>
              </a:lnSpc>
              <a:spcBef>
                <a:spcPts val="91"/>
              </a:spcBef>
            </a:pPr>
            <a:r>
              <a:rPr lang="es-MX" sz="4400" b="1" spc="-600" dirty="0">
                <a:solidFill>
                  <a:srgbClr val="1F3D6F"/>
                </a:solidFill>
                <a:latin typeface="Arial"/>
                <a:cs typeface="Arial"/>
              </a:rPr>
              <a:t>Paso 3 · Aprobación y gateway</a:t>
            </a:r>
            <a:endParaRPr sz="4400" dirty="0">
              <a:latin typeface="Arial"/>
              <a:cs typeface="Arial"/>
            </a:endParaRPr>
          </a:p>
        </p:txBody>
      </p:sp>
      <p:sp>
        <p:nvSpPr>
          <p:cNvPr id="9001" name="caption"/>
          <p:cNvSpPr txBox="1"/>
          <p:nvPr/>
        </p:nvSpPr>
        <p:spPr>
          <a:xfrm>
            <a:off x="3689350" y="1950000"/>
            <a:ext cx="12725399" cy="430000"/>
          </a:xfrm>
          <a:prstGeom prst="rect">
            <a:avLst/>
          </a:prstGeom>
        </p:spPr>
        <p:txBody>
          <a:bodyPr vert="horz" wrap="square" lIns="0" tIns="0" rIns="0" bIns="0" rtlCol="0" anchor="t"/>
          <a:lstStyle/>
          <a:p>
            <a:pPr marL="12699" algn="ctr"/>
            <a:r>
              <a:rPr lang="es-MX" sz="1600" dirty="0">
                <a:solidFill>
                  <a:srgbClr val="222222"/>
                </a:solidFill>
                <a:latin typeface="Arial"/>
                <a:cs typeface="Arial"/>
              </a:rPr>
              <a:t>Se agregan la actividad de aprobación y el gateway de decisión.</a:t>
            </a:r>
            <a:endParaRPr sz="1600">
              <a:latin typeface="Arial"/>
              <a:cs typeface="Arial"/>
            </a:endParaRPr>
          </a:p>
        </p:txBody>
      </p:sp>
    </p:spTree>
    <p:extLst>
      <p:ext uri="{BB962C8B-B14F-4D97-AF65-F5344CB8AC3E}">
        <p14:creationId xmlns:p14="http://schemas.microsoft.com/office/powerpoint/2010/main" val="2959069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sz="1801"/>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sz="1801"/>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sz="1801"/>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Aulas</a:t>
            </a:r>
            <a:r>
              <a:rPr sz="1400" spc="-150" dirty="0">
                <a:solidFill>
                  <a:srgbClr val="FFFFFF"/>
                </a:solidFill>
                <a:latin typeface="Arial"/>
                <a:cs typeface="Arial"/>
              </a:rPr>
              <a:t> </a:t>
            </a:r>
            <a:r>
              <a:rPr sz="1400" dirty="0">
                <a:solidFill>
                  <a:srgbClr val="FFFFFF"/>
                </a:solidFill>
                <a:latin typeface="Arial"/>
                <a:cs typeface="Arial"/>
              </a:rPr>
              <a:t>Atelier</a:t>
            </a:r>
            <a:endParaRPr sz="140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pic>
        <p:nvPicPr>
          <p:cNvPr id="6148" name="Picture 4" descr="Notación BPMN (2025): Guía de Símbolos, Ejemplos y Modelado de Procesos de  Negocio">
            <a:extLst>
              <a:ext uri="{FF2B5EF4-FFF2-40B4-BE49-F238E27FC236}">
                <a16:creationId xmlns:a16="http://schemas.microsoft.com/office/drawing/2014/main" id="{F4799945-3B51-C87A-7233-6A212DAA3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4474" y="2650000"/>
            <a:ext cx="11415150" cy="6411248"/>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EE95D3C8-566C-9DEB-837E-386095802276}"/>
              </a:ext>
            </a:extLst>
          </p:cNvPr>
          <p:cNvSpPr txBox="1"/>
          <p:nvPr/>
        </p:nvSpPr>
        <p:spPr>
          <a:xfrm>
            <a:off x="3179603" y="403576"/>
            <a:ext cx="13744894" cy="950000"/>
          </a:xfrm>
          <a:prstGeom prst="rect">
            <a:avLst/>
          </a:prstGeom>
        </p:spPr>
        <p:txBody>
          <a:bodyPr vert="horz" wrap="square" lIns="0" tIns="11429" rIns="0" bIns="0" rtlCol="0">
            <a:spAutoFit/>
          </a:bodyPr>
          <a:lstStyle/>
          <a:p>
            <a:pPr marL="12699" algn="ctr">
              <a:lnSpc>
                <a:spcPts val="11380"/>
              </a:lnSpc>
              <a:spcBef>
                <a:spcPts val="91"/>
              </a:spcBef>
            </a:pPr>
            <a:r>
              <a:rPr lang="es-MX" sz="4400" b="1" spc="-600" dirty="0">
                <a:solidFill>
                  <a:srgbClr val="1F3D6F"/>
                </a:solidFill>
                <a:latin typeface="Arial"/>
                <a:cs typeface="Arial"/>
              </a:rPr>
              <a:t>Paso 4 · Ramificar y cerrar el proceso</a:t>
            </a:r>
            <a:endParaRPr sz="4400" dirty="0">
              <a:latin typeface="Arial"/>
              <a:cs typeface="Arial"/>
            </a:endParaRPr>
          </a:p>
        </p:txBody>
      </p:sp>
      <p:sp>
        <p:nvSpPr>
          <p:cNvPr id="9001" name="caption"/>
          <p:cNvSpPr txBox="1"/>
          <p:nvPr/>
        </p:nvSpPr>
        <p:spPr>
          <a:xfrm>
            <a:off x="3689350" y="1950000"/>
            <a:ext cx="12725399" cy="430000"/>
          </a:xfrm>
          <a:prstGeom prst="rect">
            <a:avLst/>
          </a:prstGeom>
        </p:spPr>
        <p:txBody>
          <a:bodyPr vert="horz" wrap="square" lIns="0" tIns="0" rIns="0" bIns="0" rtlCol="0" anchor="t"/>
          <a:lstStyle/>
          <a:p>
            <a:pPr marL="12699" algn="ctr"/>
            <a:r>
              <a:rPr lang="es-MX" sz="1600" dirty="0">
                <a:solidFill>
                  <a:srgbClr val="222222"/>
                </a:solidFill>
                <a:latin typeface="Arial"/>
                <a:cs typeface="Arial"/>
              </a:rPr>
              <a:t>Se completan las ramas del gateway y los eventos de fin del proceso.</a:t>
            </a:r>
            <a:endParaRPr sz="1600">
              <a:latin typeface="Arial"/>
              <a:cs typeface="Arial"/>
            </a:endParaRPr>
          </a:p>
        </p:txBody>
      </p:sp>
    </p:spTree>
    <p:extLst>
      <p:ext uri="{BB962C8B-B14F-4D97-AF65-F5344CB8AC3E}">
        <p14:creationId xmlns:p14="http://schemas.microsoft.com/office/powerpoint/2010/main" val="2959069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sz="1801"/>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sz="1801"/>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sz="1801"/>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sz="1801"/>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Aulas</a:t>
            </a:r>
            <a:r>
              <a:rPr sz="1400" spc="-150" dirty="0">
                <a:solidFill>
                  <a:srgbClr val="FFFFFF"/>
                </a:solidFill>
                <a:latin typeface="Arial"/>
                <a:cs typeface="Arial"/>
              </a:rPr>
              <a:t> </a:t>
            </a:r>
            <a:r>
              <a:rPr sz="1400" dirty="0">
                <a:solidFill>
                  <a:srgbClr val="FFFFFF"/>
                </a:solidFill>
                <a:latin typeface="Arial"/>
                <a:cs typeface="Arial"/>
              </a:rPr>
              <a:t>Atelier</a:t>
            </a:r>
            <a:endParaRPr sz="140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sz="3199" spc="-64" dirty="0"/>
              <a:t>Facultad</a:t>
            </a:r>
            <a:r>
              <a:rPr sz="3199" spc="-236" dirty="0"/>
              <a:t> </a:t>
            </a:r>
            <a:r>
              <a:rPr sz="3199" spc="-74" dirty="0"/>
              <a:t>de</a:t>
            </a:r>
          </a:p>
          <a:p>
            <a:pPr marL="12699">
              <a:spcBef>
                <a:spcPts val="30"/>
              </a:spcBef>
            </a:pPr>
            <a:r>
              <a:rPr sz="3199" b="1" spc="-74"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5" name="object 2">
            <a:extLst>
              <a:ext uri="{FF2B5EF4-FFF2-40B4-BE49-F238E27FC236}">
                <a16:creationId xmlns:a16="http://schemas.microsoft.com/office/drawing/2014/main" id="{EE95D3C8-566C-9DEB-837E-386095802276}"/>
              </a:ext>
            </a:extLst>
          </p:cNvPr>
          <p:cNvSpPr txBox="1"/>
          <p:nvPr/>
        </p:nvSpPr>
        <p:spPr>
          <a:xfrm>
            <a:off x="3179603" y="403576"/>
            <a:ext cx="13744894" cy="950000"/>
          </a:xfrm>
          <a:prstGeom prst="rect">
            <a:avLst/>
          </a:prstGeom>
        </p:spPr>
        <p:txBody>
          <a:bodyPr vert="horz" wrap="square" lIns="0" tIns="11429" rIns="0" bIns="0" rtlCol="0">
            <a:spAutoFit/>
          </a:bodyPr>
          <a:lstStyle/>
          <a:p>
            <a:pPr marL="12699" algn="ctr">
              <a:lnSpc>
                <a:spcPts val="11380"/>
              </a:lnSpc>
              <a:spcBef>
                <a:spcPts val="91"/>
              </a:spcBef>
            </a:pPr>
            <a:r>
              <a:rPr lang="es-MX" sz="4400" b="1" spc="-600" dirty="0">
                <a:solidFill>
                  <a:srgbClr val="1F3D6F"/>
                </a:solidFill>
                <a:latin typeface="Arial"/>
                <a:cs typeface="Arial"/>
              </a:rPr>
              <a:t>Metodología para modelar un proceso BPMN</a:t>
            </a:r>
            <a:endParaRPr sz="4400" dirty="0">
              <a:latin typeface="Arial"/>
              <a:cs typeface="Arial"/>
            </a:endParaRPr>
          </a:p>
        </p:txBody>
      </p:sp>
      <p:sp>
        <p:nvSpPr>
          <p:cNvPr id="9002" name="methodology list"/>
          <p:cNvSpPr txBox="1"/>
          <p:nvPr/>
        </p:nvSpPr>
        <p:spPr>
          <a:xfrm>
            <a:off x="3689350" y="2350000"/>
            <a:ext cx="12725399" cy="6500000"/>
          </a:xfrm>
          <a:prstGeom prst="rect">
            <a:avLst/>
          </a:prstGeom>
        </p:spPr>
        <p:txBody>
          <a:bodyPr vert="horz" wrap="square" lIns="0" tIns="0" rIns="0" bIns="0" rtlCol="0" anchor="t"/>
          <a:lstStyle/>
          <a:p>
            <a:pPr marL="457200" marR="0" lvl="0" indent="-457200" algn="l" defTabSz="914400" rtl="0" eaLnBrk="0" fontAlgn="base" latinLnBrk="0" hangingPunct="0">
              <a:lnSpc>
                <a:spcPct val="110000"/>
              </a:lnSpc>
              <a:spcBef>
                <a:spcPts val="1400"/>
              </a:spcBef>
              <a:spcAft>
                <a:spcPct val="0"/>
              </a:spcAft>
              <a:buClrTx/>
              <a:buSzTx/>
              <a:buFont typeface="Arial" panose="020B0604020202020204" pitchFamily="34" charset="0"/>
              <a:buAutoNum type="arabicPeriod"/>
              <a:tabLst/>
            </a:pPr>
            <a:r>
              <a:rPr lang="es-MX" sz="2200" b="1" dirty="0">
                <a:solidFill>
                  <a:srgbClr val="1F3D6F"/>
                </a:solidFill>
                <a:latin typeface="Arial" panose="020B0604020202020204" pitchFamily="34" charset="0"/>
                <a:cs typeface="Arial" panose="020B0604020202020204" pitchFamily="34" charset="0"/>
              </a:rPr>
              <a:t>Identificar los actores. </a:t>
            </a:r>
            <a:r>
              <a:rPr lang="es-MX" sz="2200" dirty="0">
                <a:solidFill>
                  <a:srgbClr val="222222"/>
                </a:solidFill>
                <a:latin typeface="Arial" panose="020B0604020202020204" pitchFamily="34" charset="0"/>
                <a:cs typeface="Arial" panose="020B0604020202020204" pitchFamily="34" charset="0"/>
              </a:rPr>
              <a:t>Reconocer quiénes participan en el proceso y agruparlos en carriles (lanes) dentro de un pool.</a:t>
            </a:r>
          </a:p>
          <a:p>
            <a:pPr marL="457200" marR="0" lvl="0" indent="-457200" algn="l" defTabSz="914400" rtl="0" eaLnBrk="0" fontAlgn="base" latinLnBrk="0" hangingPunct="0">
              <a:lnSpc>
                <a:spcPct val="110000"/>
              </a:lnSpc>
              <a:spcBef>
                <a:spcPts val="1400"/>
              </a:spcBef>
              <a:spcAft>
                <a:spcPct val="0"/>
              </a:spcAft>
              <a:buClrTx/>
              <a:buSzTx/>
              <a:buFont typeface="Arial" panose="020B0604020202020204" pitchFamily="34" charset="0"/>
              <a:buAutoNum type="arabicPeriod"/>
              <a:tabLst/>
            </a:pPr>
            <a:r>
              <a:rPr lang="es-MX" sz="2200" b="1" dirty="0">
                <a:solidFill>
                  <a:srgbClr val="1F3D6F"/>
                </a:solidFill>
                <a:latin typeface="Arial" panose="020B0604020202020204" pitchFamily="34" charset="0"/>
                <a:cs typeface="Arial" panose="020B0604020202020204" pitchFamily="34" charset="0"/>
              </a:rPr>
              <a:t>Definir inicio y fin. </a:t>
            </a:r>
            <a:r>
              <a:rPr lang="es-MX" sz="2200" dirty="0">
                <a:solidFill>
                  <a:srgbClr val="222222"/>
                </a:solidFill>
                <a:latin typeface="Arial" panose="020B0604020202020204" pitchFamily="34" charset="0"/>
                <a:cs typeface="Arial" panose="020B0604020202020204" pitchFamily="34" charset="0"/>
              </a:rPr>
              <a:t>Establecer el evento de inicio que dispara el proceso y el o los eventos de fin posibles.</a:t>
            </a:r>
          </a:p>
          <a:p>
            <a:pPr marL="457200" marR="0" lvl="0" indent="-457200" algn="l" defTabSz="914400" rtl="0" eaLnBrk="0" fontAlgn="base" latinLnBrk="0" hangingPunct="0">
              <a:lnSpc>
                <a:spcPct val="110000"/>
              </a:lnSpc>
              <a:spcBef>
                <a:spcPts val="1400"/>
              </a:spcBef>
              <a:spcAft>
                <a:spcPct val="0"/>
              </a:spcAft>
              <a:buClrTx/>
              <a:buSzTx/>
              <a:buFont typeface="Arial" panose="020B0604020202020204" pitchFamily="34" charset="0"/>
              <a:buAutoNum type="arabicPeriod"/>
              <a:tabLst/>
            </a:pPr>
            <a:r>
              <a:rPr lang="es-MX" sz="2200" b="1" dirty="0">
                <a:solidFill>
                  <a:srgbClr val="1F3D6F"/>
                </a:solidFill>
                <a:latin typeface="Arial" panose="020B0604020202020204" pitchFamily="34" charset="0"/>
                <a:cs typeface="Arial" panose="020B0604020202020204" pitchFamily="34" charset="0"/>
              </a:rPr>
              <a:t>Listar las actividades. </a:t>
            </a:r>
            <a:r>
              <a:rPr lang="es-MX" sz="2200" dirty="0">
                <a:solidFill>
                  <a:srgbClr val="222222"/>
                </a:solidFill>
                <a:latin typeface="Arial" panose="020B0604020202020204" pitchFamily="34" charset="0"/>
                <a:cs typeface="Arial" panose="020B0604020202020204" pitchFamily="34" charset="0"/>
              </a:rPr>
              <a:t>Identificar las tareas que ejecuta cada actor, con nombres claros y verbos de acción.</a:t>
            </a:r>
          </a:p>
          <a:p>
            <a:pPr marL="457200" marR="0" lvl="0" indent="-457200" algn="l" defTabSz="914400" rtl="0" eaLnBrk="0" fontAlgn="base" latinLnBrk="0" hangingPunct="0">
              <a:lnSpc>
                <a:spcPct val="110000"/>
              </a:lnSpc>
              <a:spcBef>
                <a:spcPts val="1400"/>
              </a:spcBef>
              <a:spcAft>
                <a:spcPct val="0"/>
              </a:spcAft>
              <a:buClrTx/>
              <a:buSzTx/>
              <a:buFont typeface="Arial" panose="020B0604020202020204" pitchFamily="34" charset="0"/>
              <a:buAutoNum type="arabicPeriod"/>
              <a:tabLst/>
            </a:pPr>
            <a:r>
              <a:rPr lang="es-MX" sz="2200" b="1" dirty="0">
                <a:solidFill>
                  <a:srgbClr val="1F3D6F"/>
                </a:solidFill>
                <a:latin typeface="Arial" panose="020B0604020202020204" pitchFamily="34" charset="0"/>
                <a:cs typeface="Arial" panose="020B0604020202020204" pitchFamily="34" charset="0"/>
              </a:rPr>
              <a:t>Insertar los gateways. </a:t>
            </a:r>
            <a:r>
              <a:rPr lang="es-MX" sz="2200" dirty="0">
                <a:solidFill>
                  <a:srgbClr val="222222"/>
                </a:solidFill>
                <a:latin typeface="Arial" panose="020B0604020202020204" pitchFamily="34" charset="0"/>
                <a:cs typeface="Arial" panose="020B0604020202020204" pitchFamily="34" charset="0"/>
              </a:rPr>
              <a:t>Ubicar los puntos de decisión o paralelismo donde el flujo se ramifica o converge.</a:t>
            </a:r>
          </a:p>
          <a:p>
            <a:pPr marL="457200" marR="0" lvl="0" indent="-457200" algn="l" defTabSz="914400" rtl="0" eaLnBrk="0" fontAlgn="base" latinLnBrk="0" hangingPunct="0">
              <a:lnSpc>
                <a:spcPct val="110000"/>
              </a:lnSpc>
              <a:spcBef>
                <a:spcPts val="1400"/>
              </a:spcBef>
              <a:spcAft>
                <a:spcPct val="0"/>
              </a:spcAft>
              <a:buClrTx/>
              <a:buSzTx/>
              <a:buFont typeface="Arial" panose="020B0604020202020204" pitchFamily="34" charset="0"/>
              <a:buAutoNum type="arabicPeriod"/>
              <a:tabLst/>
            </a:pPr>
            <a:r>
              <a:rPr lang="es-MX" sz="2200" b="1" dirty="0">
                <a:solidFill>
                  <a:srgbClr val="1F3D6F"/>
                </a:solidFill>
                <a:latin typeface="Arial" panose="020B0604020202020204" pitchFamily="34" charset="0"/>
                <a:cs typeface="Arial" panose="020B0604020202020204" pitchFamily="34" charset="0"/>
              </a:rPr>
              <a:t>Conectar y validar. </a:t>
            </a:r>
            <a:r>
              <a:rPr lang="es-MX" sz="2200" dirty="0">
                <a:solidFill>
                  <a:srgbClr val="222222"/>
                </a:solidFill>
                <a:latin typeface="Arial" panose="020B0604020202020204" pitchFamily="34" charset="0"/>
                <a:cs typeface="Arial" panose="020B0604020202020204" pitchFamily="34" charset="0"/>
              </a:rPr>
              <a:t>Unir los elementos con flechas de secuencia y validar el modelo con los interesados del proceso.</a:t>
            </a:r>
          </a:p>
        </p:txBody>
      </p:sp>
    </p:spTree>
    <p:extLst>
      <p:ext uri="{BB962C8B-B14F-4D97-AF65-F5344CB8AC3E}">
        <p14:creationId xmlns:p14="http://schemas.microsoft.com/office/powerpoint/2010/main" val="295906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 name="Content Placeholder 2">
            <a:extLst>
              <a:ext uri="{FF2B5EF4-FFF2-40B4-BE49-F238E27FC236}">
                <a16:creationId xmlns:a16="http://schemas.microsoft.com/office/drawing/2014/main" id="{96987592-2F54-17AF-15AD-57DFB31369F2}"/>
              </a:ext>
            </a:extLst>
          </p:cNvPr>
          <p:cNvGraphicFramePr>
            <a:graphicFrameLocks/>
          </p:cNvGraphicFramePr>
          <p:nvPr>
            <p:extLst>
              <p:ext uri="{D42A27DB-BD31-4B8C-83A1-F6EECF244321}">
                <p14:modId xmlns:p14="http://schemas.microsoft.com/office/powerpoint/2010/main" val="2552133201"/>
              </p:ext>
            </p:extLst>
          </p:nvPr>
        </p:nvGraphicFramePr>
        <p:xfrm>
          <a:off x="1112130" y="2398001"/>
          <a:ext cx="17879838" cy="5904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p:cNvSpPr/>
          <p:nvPr/>
        </p:nvSpPr>
        <p:spPr>
          <a:xfrm>
            <a:off x="10069976" y="9171249"/>
            <a:ext cx="10034123" cy="2137306"/>
          </a:xfrm>
          <a:prstGeom prst="rect">
            <a:avLst/>
          </a:prstGeom>
          <a:blipFill>
            <a:blip r:embed="rId7" cstate="print"/>
            <a:stretch>
              <a:fillRect/>
            </a:stretch>
          </a:blipFill>
        </p:spPr>
        <p:txBody>
          <a:bodyPr wrap="square" lIns="0" tIns="0" rIns="0" bIns="0" rtlCol="0"/>
          <a:lstStyle/>
          <a:p>
            <a:endParaRPr/>
          </a:p>
        </p:txBody>
      </p:sp>
      <p:sp>
        <p:nvSpPr>
          <p:cNvPr id="3" name="object 3"/>
          <p:cNvSpPr/>
          <p:nvPr/>
        </p:nvSpPr>
        <p:spPr>
          <a:xfrm>
            <a:off x="18804565" y="10842109"/>
            <a:ext cx="1299845" cy="241935"/>
          </a:xfrm>
          <a:custGeom>
            <a:avLst/>
            <a:gdLst/>
            <a:ahLst/>
            <a:cxnLst/>
            <a:rect l="l" t="t" r="r" b="b"/>
            <a:pathLst>
              <a:path w="1299844" h="241934">
                <a:moveTo>
                  <a:pt x="1299534" y="0"/>
                </a:moveTo>
                <a:lnTo>
                  <a:pt x="0" y="0"/>
                </a:lnTo>
                <a:lnTo>
                  <a:pt x="31412" y="241635"/>
                </a:lnTo>
                <a:lnTo>
                  <a:pt x="1299534" y="241635"/>
                </a:lnTo>
                <a:lnTo>
                  <a:pt x="1299534" y="0"/>
                </a:lnTo>
                <a:close/>
              </a:path>
            </a:pathLst>
          </a:custGeom>
          <a:solidFill>
            <a:srgbClr val="1F3D6F">
              <a:alpha val="51998"/>
            </a:srgbClr>
          </a:solidFill>
        </p:spPr>
        <p:txBody>
          <a:bodyPr wrap="square" lIns="0" tIns="0" rIns="0" bIns="0" rtlCol="0"/>
          <a:lstStyle/>
          <a:p>
            <a:endParaRPr/>
          </a:p>
        </p:txBody>
      </p:sp>
      <p:sp>
        <p:nvSpPr>
          <p:cNvPr id="4" name="object 4"/>
          <p:cNvSpPr/>
          <p:nvPr/>
        </p:nvSpPr>
        <p:spPr>
          <a:xfrm>
            <a:off x="17663337" y="10753856"/>
            <a:ext cx="2430066" cy="540297"/>
          </a:xfrm>
          <a:prstGeom prst="rect">
            <a:avLst/>
          </a:prstGeom>
          <a:blipFill>
            <a:blip r:embed="rId8" cstate="print"/>
            <a:stretch>
              <a:fillRect/>
            </a:stretch>
          </a:blipFill>
        </p:spPr>
        <p:txBody>
          <a:bodyPr wrap="square" lIns="0" tIns="0" rIns="0" bIns="0" rtlCol="0"/>
          <a:lstStyle/>
          <a:p>
            <a:endParaRPr/>
          </a:p>
        </p:txBody>
      </p:sp>
      <p:sp>
        <p:nvSpPr>
          <p:cNvPr id="5" name="object 5"/>
          <p:cNvSpPr txBox="1"/>
          <p:nvPr/>
        </p:nvSpPr>
        <p:spPr>
          <a:xfrm>
            <a:off x="18948744" y="10801194"/>
            <a:ext cx="92583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Arial"/>
                <a:cs typeface="Arial"/>
              </a:rPr>
              <a:t>Puente</a:t>
            </a:r>
            <a:r>
              <a:rPr sz="1400" spc="-75" dirty="0">
                <a:solidFill>
                  <a:srgbClr val="FFFFFF"/>
                </a:solidFill>
                <a:latin typeface="Arial"/>
                <a:cs typeface="Arial"/>
              </a:rPr>
              <a:t> </a:t>
            </a:r>
            <a:r>
              <a:rPr sz="1400" spc="-5" dirty="0">
                <a:solidFill>
                  <a:srgbClr val="FFFFFF"/>
                </a:solidFill>
                <a:latin typeface="Arial"/>
                <a:cs typeface="Arial"/>
              </a:rPr>
              <a:t>gris</a:t>
            </a:r>
            <a:endParaRPr sz="1400">
              <a:latin typeface="Arial"/>
              <a:cs typeface="Arial"/>
            </a:endParaRPr>
          </a:p>
        </p:txBody>
      </p:sp>
      <p:sp>
        <p:nvSpPr>
          <p:cNvPr id="6" name="object 6"/>
          <p:cNvSpPr/>
          <p:nvPr/>
        </p:nvSpPr>
        <p:spPr>
          <a:xfrm>
            <a:off x="0" y="9182854"/>
            <a:ext cx="10506710" cy="2119630"/>
          </a:xfrm>
          <a:custGeom>
            <a:avLst/>
            <a:gdLst/>
            <a:ahLst/>
            <a:cxnLst/>
            <a:rect l="l" t="t" r="r" b="b"/>
            <a:pathLst>
              <a:path w="10506710" h="2119629">
                <a:moveTo>
                  <a:pt x="10165941" y="0"/>
                </a:moveTo>
                <a:lnTo>
                  <a:pt x="0" y="8303"/>
                </a:lnTo>
                <a:lnTo>
                  <a:pt x="0" y="2119139"/>
                </a:lnTo>
                <a:lnTo>
                  <a:pt x="10506413" y="2110825"/>
                </a:lnTo>
                <a:lnTo>
                  <a:pt x="10165941" y="0"/>
                </a:lnTo>
                <a:close/>
              </a:path>
            </a:pathLst>
          </a:custGeom>
          <a:solidFill>
            <a:srgbClr val="834E3E"/>
          </a:solidFill>
        </p:spPr>
        <p:txBody>
          <a:bodyPr wrap="square" lIns="0" tIns="0" rIns="0" bIns="0" rtlCol="0"/>
          <a:lstStyle/>
          <a:p>
            <a:endParaRPr/>
          </a:p>
        </p:txBody>
      </p:sp>
      <p:sp>
        <p:nvSpPr>
          <p:cNvPr id="7" name="object 7"/>
          <p:cNvSpPr/>
          <p:nvPr/>
        </p:nvSpPr>
        <p:spPr>
          <a:xfrm>
            <a:off x="0" y="9182851"/>
            <a:ext cx="10301529" cy="2125704"/>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4900446" y="9515311"/>
            <a:ext cx="0" cy="1393190"/>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a:p>
        </p:txBody>
      </p:sp>
      <p:sp>
        <p:nvSpPr>
          <p:cNvPr id="22" name="object 22"/>
          <p:cNvSpPr txBox="1">
            <a:spLocks noGrp="1"/>
          </p:cNvSpPr>
          <p:nvPr>
            <p:ph type="title"/>
          </p:nvPr>
        </p:nvSpPr>
        <p:spPr>
          <a:xfrm>
            <a:off x="5238285" y="9693275"/>
            <a:ext cx="2647315" cy="1000274"/>
          </a:xfrm>
          <a:prstGeom prst="rect">
            <a:avLst/>
          </a:prstGeom>
        </p:spPr>
        <p:txBody>
          <a:bodyPr vert="horz" wrap="square" lIns="0" tIns="15240" rIns="0" bIns="0" rtlCol="0">
            <a:spAutoFit/>
          </a:bodyPr>
          <a:lstStyle/>
          <a:p>
            <a:pPr marL="12700">
              <a:lnSpc>
                <a:spcPct val="100000"/>
              </a:lnSpc>
              <a:spcBef>
                <a:spcPts val="120"/>
              </a:spcBef>
            </a:pPr>
            <a:r>
              <a:rPr sz="3200" spc="-65" dirty="0"/>
              <a:t>Facultad</a:t>
            </a:r>
            <a:r>
              <a:rPr sz="3200" spc="-235" dirty="0"/>
              <a:t> </a:t>
            </a:r>
            <a:r>
              <a:rPr sz="3200" spc="-75" dirty="0"/>
              <a:t>de</a:t>
            </a:r>
          </a:p>
          <a:p>
            <a:pPr marL="12700">
              <a:lnSpc>
                <a:spcPct val="100000"/>
              </a:lnSpc>
              <a:spcBef>
                <a:spcPts val="30"/>
              </a:spcBef>
            </a:pPr>
            <a:r>
              <a:rPr sz="3200" b="1" spc="-75" dirty="0">
                <a:latin typeface="Arial"/>
                <a:cs typeface="Arial"/>
              </a:rPr>
              <a:t>Ingeniería</a:t>
            </a:r>
          </a:p>
        </p:txBody>
      </p:sp>
      <p:pic>
        <p:nvPicPr>
          <p:cNvPr id="23" name="Imagen 22" descr="Imagen que contiene dibujo&#10;&#10;Descripción generada automáticamente">
            <a:extLst>
              <a:ext uri="{FF2B5EF4-FFF2-40B4-BE49-F238E27FC236}">
                <a16:creationId xmlns:a16="http://schemas.microsoft.com/office/drawing/2014/main" id="{E9EB8A88-A280-2244-89F6-CE25497F1F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4469" y="9515311"/>
            <a:ext cx="4072296" cy="1485837"/>
          </a:xfrm>
          <a:prstGeom prst="rect">
            <a:avLst/>
          </a:prstGeom>
        </p:spPr>
      </p:pic>
      <p:sp>
        <p:nvSpPr>
          <p:cNvPr id="8" name="object 2">
            <a:extLst>
              <a:ext uri="{FF2B5EF4-FFF2-40B4-BE49-F238E27FC236}">
                <a16:creationId xmlns:a16="http://schemas.microsoft.com/office/drawing/2014/main" id="{48D8ED0C-6452-2CDC-9DAA-D0D9DFCE2895}"/>
              </a:ext>
            </a:extLst>
          </p:cNvPr>
          <p:cNvSpPr txBox="1"/>
          <p:nvPr/>
        </p:nvSpPr>
        <p:spPr>
          <a:xfrm>
            <a:off x="3179603" y="403576"/>
            <a:ext cx="13744894" cy="1367938"/>
          </a:xfrm>
          <a:prstGeom prst="rect">
            <a:avLst/>
          </a:prstGeom>
        </p:spPr>
        <p:txBody>
          <a:bodyPr vert="horz" wrap="square" lIns="0" tIns="11429" rIns="0" bIns="0" rtlCol="0">
            <a:spAutoFit/>
          </a:bodyPr>
          <a:lstStyle/>
          <a:p>
            <a:pPr marL="12699" algn="ctr">
              <a:lnSpc>
                <a:spcPts val="11380"/>
              </a:lnSpc>
              <a:spcBef>
                <a:spcPts val="91"/>
              </a:spcBef>
            </a:pPr>
            <a:r>
              <a:rPr lang="es-MX" sz="8905" b="1" spc="-600" dirty="0">
                <a:solidFill>
                  <a:srgbClr val="1F3D6F"/>
                </a:solidFill>
                <a:latin typeface="Arial"/>
                <a:cs typeface="Arial"/>
              </a:rPr>
              <a:t>Ejemplo de proceso sencillo</a:t>
            </a:r>
            <a:endParaRPr sz="8905" dirty="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502926" y="9219677"/>
            <a:ext cx="9601173" cy="208887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052050" y="9219677"/>
            <a:ext cx="10052039" cy="2088878"/>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8194315" y="10804609"/>
            <a:ext cx="1910080" cy="241935"/>
          </a:xfrm>
          <a:custGeom>
            <a:avLst/>
            <a:gdLst/>
            <a:ahLst/>
            <a:cxnLst/>
            <a:rect l="l" t="t" r="r" b="b"/>
            <a:pathLst>
              <a:path w="1910080" h="241934">
                <a:moveTo>
                  <a:pt x="1909784" y="0"/>
                </a:moveTo>
                <a:lnTo>
                  <a:pt x="0" y="0"/>
                </a:lnTo>
                <a:lnTo>
                  <a:pt x="0" y="296"/>
                </a:lnTo>
                <a:lnTo>
                  <a:pt x="31374" y="241636"/>
                </a:lnTo>
                <a:lnTo>
                  <a:pt x="1909784" y="241636"/>
                </a:lnTo>
                <a:lnTo>
                  <a:pt x="1909784" y="0"/>
                </a:lnTo>
                <a:close/>
              </a:path>
            </a:pathLst>
          </a:custGeom>
          <a:solidFill>
            <a:srgbClr val="1F3D6F">
              <a:alpha val="51998"/>
            </a:srgbClr>
          </a:solidFill>
        </p:spPr>
        <p:txBody>
          <a:bodyPr wrap="square" lIns="0" tIns="0" rIns="0" bIns="0" rtlCol="0"/>
          <a:lstStyle/>
          <a:p>
            <a:endParaRPr/>
          </a:p>
        </p:txBody>
      </p:sp>
      <p:sp>
        <p:nvSpPr>
          <p:cNvPr id="5" name="object 5"/>
          <p:cNvSpPr/>
          <p:nvPr/>
        </p:nvSpPr>
        <p:spPr>
          <a:xfrm>
            <a:off x="17781447" y="10737732"/>
            <a:ext cx="2322651" cy="540297"/>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18384167" y="10786039"/>
            <a:ext cx="160909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Arial"/>
                <a:cs typeface="Arial"/>
              </a:rPr>
              <a:t>Punto</a:t>
            </a:r>
            <a:r>
              <a:rPr sz="1400" spc="-70" dirty="0">
                <a:solidFill>
                  <a:srgbClr val="FFFFFF"/>
                </a:solidFill>
                <a:latin typeface="Arial"/>
                <a:cs typeface="Arial"/>
              </a:rPr>
              <a:t> </a:t>
            </a:r>
            <a:r>
              <a:rPr sz="1400" dirty="0">
                <a:solidFill>
                  <a:srgbClr val="FFFFFF"/>
                </a:solidFill>
                <a:latin typeface="Arial"/>
                <a:cs typeface="Arial"/>
              </a:rPr>
              <a:t>Embarcadero</a:t>
            </a:r>
            <a:endParaRPr sz="1400">
              <a:latin typeface="Arial"/>
              <a:cs typeface="Arial"/>
            </a:endParaRPr>
          </a:p>
        </p:txBody>
      </p:sp>
      <p:sp>
        <p:nvSpPr>
          <p:cNvPr id="7" name="object 7"/>
          <p:cNvSpPr/>
          <p:nvPr/>
        </p:nvSpPr>
        <p:spPr>
          <a:xfrm>
            <a:off x="0" y="9216219"/>
            <a:ext cx="10487660" cy="2092960"/>
          </a:xfrm>
          <a:custGeom>
            <a:avLst/>
            <a:gdLst/>
            <a:ahLst/>
            <a:cxnLst/>
            <a:rect l="l" t="t" r="r" b="b"/>
            <a:pathLst>
              <a:path w="10487660" h="2092959">
                <a:moveTo>
                  <a:pt x="10150172" y="0"/>
                </a:moveTo>
                <a:lnTo>
                  <a:pt x="0" y="8303"/>
                </a:lnTo>
                <a:lnTo>
                  <a:pt x="0" y="2092334"/>
                </a:lnTo>
                <a:lnTo>
                  <a:pt x="10487659" y="2092334"/>
                </a:lnTo>
                <a:lnTo>
                  <a:pt x="10150172" y="0"/>
                </a:lnTo>
                <a:close/>
              </a:path>
            </a:pathLst>
          </a:custGeom>
          <a:solidFill>
            <a:srgbClr val="834E3E"/>
          </a:solidFill>
        </p:spPr>
        <p:txBody>
          <a:bodyPr wrap="square" lIns="0" tIns="0" rIns="0" bIns="0" rtlCol="0"/>
          <a:lstStyle/>
          <a:p>
            <a:endParaRPr/>
          </a:p>
        </p:txBody>
      </p:sp>
      <p:sp>
        <p:nvSpPr>
          <p:cNvPr id="8" name="object 8"/>
          <p:cNvSpPr/>
          <p:nvPr/>
        </p:nvSpPr>
        <p:spPr>
          <a:xfrm>
            <a:off x="0" y="9216221"/>
            <a:ext cx="10280608" cy="2092334"/>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4884669" y="9548683"/>
            <a:ext cx="0" cy="1393190"/>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a:p>
        </p:txBody>
      </p:sp>
      <p:sp>
        <p:nvSpPr>
          <p:cNvPr id="23" name="object 23"/>
          <p:cNvSpPr txBox="1">
            <a:spLocks noGrp="1"/>
          </p:cNvSpPr>
          <p:nvPr>
            <p:ph type="title"/>
          </p:nvPr>
        </p:nvSpPr>
        <p:spPr>
          <a:xfrm>
            <a:off x="5238296" y="9759801"/>
            <a:ext cx="2647315" cy="1000274"/>
          </a:xfrm>
          <a:prstGeom prst="rect">
            <a:avLst/>
          </a:prstGeom>
        </p:spPr>
        <p:txBody>
          <a:bodyPr vert="horz" wrap="square" lIns="0" tIns="15240" rIns="0" bIns="0" rtlCol="0">
            <a:spAutoFit/>
          </a:bodyPr>
          <a:lstStyle/>
          <a:p>
            <a:pPr marL="12700">
              <a:lnSpc>
                <a:spcPct val="100000"/>
              </a:lnSpc>
              <a:spcBef>
                <a:spcPts val="120"/>
              </a:spcBef>
            </a:pPr>
            <a:r>
              <a:rPr sz="3200" spc="-65" dirty="0"/>
              <a:t>Facultad</a:t>
            </a:r>
            <a:r>
              <a:rPr sz="3200" spc="-235" dirty="0"/>
              <a:t> </a:t>
            </a:r>
            <a:r>
              <a:rPr sz="3200" spc="-75" dirty="0"/>
              <a:t>de</a:t>
            </a:r>
          </a:p>
          <a:p>
            <a:pPr marL="12700">
              <a:lnSpc>
                <a:spcPct val="100000"/>
              </a:lnSpc>
              <a:spcBef>
                <a:spcPts val="30"/>
              </a:spcBef>
            </a:pPr>
            <a:r>
              <a:rPr sz="3200" b="1" spc="-75" dirty="0">
                <a:latin typeface="Arial"/>
                <a:cs typeface="Arial"/>
              </a:rPr>
              <a:t>Ingeniería</a:t>
            </a:r>
          </a:p>
        </p:txBody>
      </p:sp>
      <p:pic>
        <p:nvPicPr>
          <p:cNvPr id="24" name="Imagen 23" descr="Imagen que contiene dibujo&#10;&#10;Descripción generada automáticamente">
            <a:extLst>
              <a:ext uri="{FF2B5EF4-FFF2-40B4-BE49-F238E27FC236}">
                <a16:creationId xmlns:a16="http://schemas.microsoft.com/office/drawing/2014/main" id="{329D5C87-39A1-0647-B452-0DCE46CB97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469" y="9515311"/>
            <a:ext cx="4072296" cy="1485837"/>
          </a:xfrm>
          <a:prstGeom prst="rect">
            <a:avLst/>
          </a:prstGeom>
        </p:spPr>
      </p:pic>
      <p:sp>
        <p:nvSpPr>
          <p:cNvPr id="9" name="object 2">
            <a:extLst>
              <a:ext uri="{FF2B5EF4-FFF2-40B4-BE49-F238E27FC236}">
                <a16:creationId xmlns:a16="http://schemas.microsoft.com/office/drawing/2014/main" id="{F50AD6C4-968F-33B8-0996-BCB66540FB79}"/>
              </a:ext>
            </a:extLst>
          </p:cNvPr>
          <p:cNvSpPr txBox="1"/>
          <p:nvPr/>
        </p:nvSpPr>
        <p:spPr>
          <a:xfrm>
            <a:off x="4478467" y="1055536"/>
            <a:ext cx="11147166" cy="1932195"/>
          </a:xfrm>
          <a:prstGeom prst="rect">
            <a:avLst/>
          </a:prstGeom>
        </p:spPr>
        <p:txBody>
          <a:bodyPr vert="horz" wrap="square" lIns="0" tIns="11429" rIns="0" bIns="0" rtlCol="0">
            <a:spAutoFit/>
          </a:bodyPr>
          <a:lstStyle/>
          <a:p>
            <a:pPr marL="68577" algn="ctr">
              <a:lnSpc>
                <a:spcPts val="7419"/>
              </a:lnSpc>
            </a:pPr>
            <a:r>
              <a:rPr lang="pt-BR" sz="8905" b="1" spc="-600" dirty="0" err="1">
                <a:solidFill>
                  <a:srgbClr val="1F3D6F"/>
                </a:solidFill>
                <a:latin typeface="Arial"/>
                <a:cs typeface="Arial"/>
              </a:rPr>
              <a:t>Herramientas</a:t>
            </a:r>
            <a:r>
              <a:rPr lang="pt-BR" sz="8905" b="1" spc="-600" dirty="0">
                <a:solidFill>
                  <a:srgbClr val="1F3D6F"/>
                </a:solidFill>
                <a:latin typeface="Arial"/>
                <a:cs typeface="Arial"/>
              </a:rPr>
              <a:t> para modelar BPMN</a:t>
            </a:r>
            <a:endParaRPr sz="8905" b="1" spc="-600" dirty="0">
              <a:solidFill>
                <a:srgbClr val="1F3D6F"/>
              </a:solidFill>
              <a:latin typeface="Arial"/>
              <a:cs typeface="Arial"/>
            </a:endParaRPr>
          </a:p>
        </p:txBody>
      </p:sp>
      <p:pic>
        <p:nvPicPr>
          <p:cNvPr id="7170" name="Picture 2" descr="Draw.io Logo PNG Vector (SVG) Free Download">
            <a:extLst>
              <a:ext uri="{FF2B5EF4-FFF2-40B4-BE49-F238E27FC236}">
                <a16:creationId xmlns:a16="http://schemas.microsoft.com/office/drawing/2014/main" id="{49AF65C9-02BA-F75A-4773-4DC25C3D01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4801" y="431180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ntroduction to Camunda. Basics of Camunda and it's setup | by Nikhil  Bhatnagar | Dev Genius">
            <a:extLst>
              <a:ext uri="{FF2B5EF4-FFF2-40B4-BE49-F238E27FC236}">
                <a16:creationId xmlns:a16="http://schemas.microsoft.com/office/drawing/2014/main" id="{6201B585-3700-1618-7BDE-4C580F515D9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85578" y="4607079"/>
            <a:ext cx="2952750" cy="155257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B611C1FC-02CE-96B5-092B-42E5DB7586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24165" y="4918532"/>
            <a:ext cx="4095750" cy="1114425"/>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Premier Diagramming, Modeling Software &amp; Tools | Astah">
            <a:extLst>
              <a:ext uri="{FF2B5EF4-FFF2-40B4-BE49-F238E27FC236}">
                <a16:creationId xmlns:a16="http://schemas.microsoft.com/office/drawing/2014/main" id="{7159E9A7-CC5B-6479-8EEA-941D235CB34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107567" y="4688042"/>
            <a:ext cx="3276600" cy="1390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04288" y="9176342"/>
            <a:ext cx="10199096" cy="2131816"/>
          </a:xfrm>
          <a:prstGeom prst="rect">
            <a:avLst/>
          </a:prstGeom>
          <a:blipFill>
            <a:blip r:embed="rId2" cstate="print"/>
            <a:stretch>
              <a:fillRect/>
            </a:stretch>
          </a:blipFill>
        </p:spPr>
        <p:txBody>
          <a:bodyPr wrap="square" lIns="0" tIns="0" rIns="0" bIns="0" rtlCol="0"/>
          <a:lstStyle/>
          <a:p>
            <a:endParaRPr sz="1801"/>
          </a:p>
        </p:txBody>
      </p:sp>
      <p:sp>
        <p:nvSpPr>
          <p:cNvPr id="3" name="object 3"/>
          <p:cNvSpPr/>
          <p:nvPr/>
        </p:nvSpPr>
        <p:spPr>
          <a:xfrm>
            <a:off x="18963885" y="10780114"/>
            <a:ext cx="1132125" cy="241919"/>
          </a:xfrm>
          <a:custGeom>
            <a:avLst/>
            <a:gdLst/>
            <a:ahLst/>
            <a:cxnLst/>
            <a:rect l="l" t="t" r="r" b="b"/>
            <a:pathLst>
              <a:path w="1132205" h="241934">
                <a:moveTo>
                  <a:pt x="1131965" y="0"/>
                </a:moveTo>
                <a:lnTo>
                  <a:pt x="0" y="0"/>
                </a:lnTo>
                <a:lnTo>
                  <a:pt x="31412" y="241636"/>
                </a:lnTo>
                <a:lnTo>
                  <a:pt x="1131965" y="241636"/>
                </a:lnTo>
                <a:lnTo>
                  <a:pt x="1131965" y="0"/>
                </a:lnTo>
                <a:close/>
              </a:path>
            </a:pathLst>
          </a:custGeom>
          <a:solidFill>
            <a:srgbClr val="1F3D6F">
              <a:alpha val="51998"/>
            </a:srgbClr>
          </a:solidFill>
        </p:spPr>
        <p:txBody>
          <a:bodyPr wrap="square" lIns="0" tIns="0" rIns="0" bIns="0" rtlCol="0"/>
          <a:lstStyle/>
          <a:p>
            <a:endParaRPr sz="1801"/>
          </a:p>
        </p:txBody>
      </p:sp>
      <p:sp>
        <p:nvSpPr>
          <p:cNvPr id="4" name="object 4"/>
          <p:cNvSpPr/>
          <p:nvPr/>
        </p:nvSpPr>
        <p:spPr>
          <a:xfrm>
            <a:off x="17733791" y="10713380"/>
            <a:ext cx="2369604" cy="540260"/>
          </a:xfrm>
          <a:prstGeom prst="rect">
            <a:avLst/>
          </a:prstGeom>
          <a:blipFill>
            <a:blip r:embed="rId3" cstate="print"/>
            <a:stretch>
              <a:fillRect/>
            </a:stretch>
          </a:blipFill>
        </p:spPr>
        <p:txBody>
          <a:bodyPr wrap="square" lIns="0" tIns="0" rIns="0" bIns="0" rtlCol="0"/>
          <a:lstStyle/>
          <a:p>
            <a:endParaRPr sz="1801"/>
          </a:p>
        </p:txBody>
      </p:sp>
      <p:sp>
        <p:nvSpPr>
          <p:cNvPr id="5" name="object 5"/>
          <p:cNvSpPr txBox="1"/>
          <p:nvPr/>
        </p:nvSpPr>
        <p:spPr>
          <a:xfrm>
            <a:off x="19177475" y="10761544"/>
            <a:ext cx="76766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a:t>
            </a:r>
            <a:r>
              <a:rPr sz="1400" spc="-74" dirty="0">
                <a:solidFill>
                  <a:srgbClr val="FFFFFF"/>
                </a:solidFill>
                <a:latin typeface="Arial"/>
                <a:cs typeface="Arial"/>
              </a:rPr>
              <a:t> </a:t>
            </a:r>
            <a:r>
              <a:rPr sz="1400" dirty="0">
                <a:solidFill>
                  <a:srgbClr val="FFFFFF"/>
                </a:solidFill>
                <a:latin typeface="Arial"/>
                <a:cs typeface="Arial"/>
              </a:rPr>
              <a:t>K</a:t>
            </a:r>
            <a:endParaRPr sz="1400">
              <a:latin typeface="Arial"/>
              <a:cs typeface="Arial"/>
            </a:endParaRPr>
          </a:p>
        </p:txBody>
      </p:sp>
      <p:sp>
        <p:nvSpPr>
          <p:cNvPr id="6" name="object 6"/>
          <p:cNvSpPr/>
          <p:nvPr/>
        </p:nvSpPr>
        <p:spPr>
          <a:xfrm>
            <a:off x="28909" y="9184011"/>
            <a:ext cx="10510418" cy="2119482"/>
          </a:xfrm>
          <a:custGeom>
            <a:avLst/>
            <a:gdLst/>
            <a:ahLst/>
            <a:cxnLst/>
            <a:rect l="l" t="t" r="r" b="b"/>
            <a:pathLst>
              <a:path w="10511155" h="2119629">
                <a:moveTo>
                  <a:pt x="10170370" y="0"/>
                </a:moveTo>
                <a:lnTo>
                  <a:pt x="0" y="8313"/>
                </a:lnTo>
                <a:lnTo>
                  <a:pt x="0" y="2119150"/>
                </a:lnTo>
                <a:lnTo>
                  <a:pt x="10510842" y="2110825"/>
                </a:lnTo>
                <a:lnTo>
                  <a:pt x="10170370" y="0"/>
                </a:lnTo>
                <a:close/>
              </a:path>
            </a:pathLst>
          </a:custGeom>
          <a:solidFill>
            <a:srgbClr val="834E3E"/>
          </a:solidFill>
        </p:spPr>
        <p:txBody>
          <a:bodyPr wrap="square" lIns="0" tIns="0" rIns="0" bIns="0" rtlCol="0"/>
          <a:lstStyle/>
          <a:p>
            <a:endParaRPr sz="1801"/>
          </a:p>
        </p:txBody>
      </p:sp>
      <p:sp>
        <p:nvSpPr>
          <p:cNvPr id="7" name="object 7"/>
          <p:cNvSpPr/>
          <p:nvPr/>
        </p:nvSpPr>
        <p:spPr>
          <a:xfrm>
            <a:off x="706" y="9184016"/>
            <a:ext cx="10333220" cy="2124142"/>
          </a:xfrm>
          <a:prstGeom prst="rect">
            <a:avLst/>
          </a:prstGeom>
          <a:blipFill>
            <a:blip r:embed="rId4" cstate="print"/>
            <a:stretch>
              <a:fillRect/>
            </a:stretch>
          </a:blipFill>
        </p:spPr>
        <p:txBody>
          <a:bodyPr wrap="square" lIns="0" tIns="0" rIns="0" bIns="0" rtlCol="0"/>
          <a:lstStyle/>
          <a:p>
            <a:endParaRPr sz="1801"/>
          </a:p>
        </p:txBody>
      </p:sp>
      <p:sp>
        <p:nvSpPr>
          <p:cNvPr id="21" name="object 21"/>
          <p:cNvSpPr/>
          <p:nvPr/>
        </p:nvSpPr>
        <p:spPr>
          <a:xfrm>
            <a:off x="4933428" y="9516455"/>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sz="1801"/>
          </a:p>
        </p:txBody>
      </p:sp>
      <p:sp>
        <p:nvSpPr>
          <p:cNvPr id="25" name="object 22">
            <a:extLst>
              <a:ext uri="{FF2B5EF4-FFF2-40B4-BE49-F238E27FC236}">
                <a16:creationId xmlns:a16="http://schemas.microsoft.com/office/drawing/2014/main" id="{B88CA7F0-96F4-0D43-A84F-AB0AC7628A71}"/>
              </a:ext>
            </a:extLst>
          </p:cNvPr>
          <p:cNvSpPr txBox="1">
            <a:spLocks/>
          </p:cNvSpPr>
          <p:nvPr/>
        </p:nvSpPr>
        <p:spPr>
          <a:xfrm>
            <a:off x="5271471" y="9692993"/>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CO" sz="3199" kern="0" spc="-64" dirty="0"/>
              <a:t>Facultad</a:t>
            </a:r>
            <a:r>
              <a:rPr lang="es-CO" sz="3199" kern="0" spc="-236" dirty="0"/>
              <a:t> </a:t>
            </a:r>
            <a:r>
              <a:rPr lang="es-CO" sz="3199" kern="0" spc="-74" dirty="0"/>
              <a:t>de</a:t>
            </a:r>
          </a:p>
          <a:p>
            <a:pPr marL="12699">
              <a:spcBef>
                <a:spcPts val="30"/>
              </a:spcBef>
            </a:pPr>
            <a:r>
              <a:rPr lang="es-CO" sz="3199" b="1" kern="0" spc="-74" dirty="0"/>
              <a:t>Ingeniería</a:t>
            </a:r>
          </a:p>
        </p:txBody>
      </p:sp>
      <p:pic>
        <p:nvPicPr>
          <p:cNvPr id="26" name="Imagen 25" descr="Imagen que contiene dibujo&#10;&#10;Descripción generada automáticamente">
            <a:extLst>
              <a:ext uri="{FF2B5EF4-FFF2-40B4-BE49-F238E27FC236}">
                <a16:creationId xmlns:a16="http://schemas.microsoft.com/office/drawing/2014/main" id="{E1ED7109-374A-E149-BB51-A8CFFD4664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8" name="object 2">
            <a:extLst>
              <a:ext uri="{FF2B5EF4-FFF2-40B4-BE49-F238E27FC236}">
                <a16:creationId xmlns:a16="http://schemas.microsoft.com/office/drawing/2014/main" id="{A9D41C25-C838-7C1C-E53C-2AAB0E5EEAF7}"/>
              </a:ext>
            </a:extLst>
          </p:cNvPr>
          <p:cNvSpPr txBox="1"/>
          <p:nvPr/>
        </p:nvSpPr>
        <p:spPr>
          <a:xfrm>
            <a:off x="3861656" y="1205775"/>
            <a:ext cx="12380788" cy="960518"/>
          </a:xfrm>
          <a:prstGeom prst="rect">
            <a:avLst/>
          </a:prstGeom>
        </p:spPr>
        <p:txBody>
          <a:bodyPr vert="horz" wrap="square" lIns="0" tIns="11429" rIns="0" bIns="0" rtlCol="0">
            <a:spAutoFit/>
          </a:bodyPr>
          <a:lstStyle/>
          <a:p>
            <a:pPr marL="68577" algn="ctr">
              <a:lnSpc>
                <a:spcPts val="7419"/>
              </a:lnSpc>
            </a:pPr>
            <a:r>
              <a:rPr lang="es-MX" sz="7915" b="1" spc="-600" dirty="0">
                <a:solidFill>
                  <a:srgbClr val="1F3D6F"/>
                </a:solidFill>
                <a:latin typeface="Arial"/>
                <a:cs typeface="Arial"/>
              </a:rPr>
              <a:t>Actividad práctica (en clase)</a:t>
            </a:r>
          </a:p>
        </p:txBody>
      </p:sp>
      <p:sp>
        <p:nvSpPr>
          <p:cNvPr id="12" name="CuadroTexto 11">
            <a:extLst>
              <a:ext uri="{FF2B5EF4-FFF2-40B4-BE49-F238E27FC236}">
                <a16:creationId xmlns:a16="http://schemas.microsoft.com/office/drawing/2014/main" id="{E22C8190-16F9-86FB-10FC-B5507661793F}"/>
              </a:ext>
            </a:extLst>
          </p:cNvPr>
          <p:cNvSpPr txBox="1"/>
          <p:nvPr/>
        </p:nvSpPr>
        <p:spPr>
          <a:xfrm>
            <a:off x="1569644" y="2645425"/>
            <a:ext cx="10510417" cy="2677656"/>
          </a:xfrm>
          <a:prstGeom prst="rect">
            <a:avLst/>
          </a:prstGeom>
          <a:noFill/>
        </p:spPr>
        <p:txBody>
          <a:bodyPr wrap="square">
            <a:spAutoFit/>
          </a:bodyPr>
          <a:lstStyle/>
          <a:p>
            <a:pPr algn="just" eaLnBrk="0" fontAlgn="base" hangingPunct="0">
              <a:spcBef>
                <a:spcPct val="0"/>
              </a:spcBef>
              <a:spcAft>
                <a:spcPct val="0"/>
              </a:spcAft>
            </a:pPr>
            <a:r>
              <a:rPr lang="es-MX" sz="2800" dirty="0">
                <a:latin typeface="Arial" panose="020B0604020202020204" pitchFamily="34" charset="0"/>
              </a:rPr>
              <a:t>Una organización del sector salud administra una red de clínicas, laboratorios, y servicios domiciliarios. Cada unidad operativa utiliza sistemas distintos para manejar historias clínicas, agendamiento, facturación y reportes médicos. Además, los datos no están sincronizados entre sedes ni con el sistema central.</a:t>
            </a:r>
            <a:endParaRPr lang="es-419" sz="2800" dirty="0">
              <a:latin typeface="Arial" panose="020B0604020202020204" pitchFamily="34" charset="0"/>
            </a:endParaRPr>
          </a:p>
        </p:txBody>
      </p:sp>
      <p:pic>
        <p:nvPicPr>
          <p:cNvPr id="6146" name="Picture 2" descr="Signo de salud medico - Iconos Salud y Medicina">
            <a:extLst>
              <a:ext uri="{FF2B5EF4-FFF2-40B4-BE49-F238E27FC236}">
                <a16:creationId xmlns:a16="http://schemas.microsoft.com/office/drawing/2014/main" id="{7E171140-6EC1-C633-0686-E745FAEB40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09429" y="3063874"/>
            <a:ext cx="4424362" cy="4424362"/>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DCC6EDCF-3A40-A9CE-1A6D-31D8C49678B3}"/>
              </a:ext>
            </a:extLst>
          </p:cNvPr>
          <p:cNvSpPr txBox="1"/>
          <p:nvPr/>
        </p:nvSpPr>
        <p:spPr>
          <a:xfrm>
            <a:off x="1569645" y="5968412"/>
            <a:ext cx="10510416" cy="267765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419" altLang="es-419" sz="2800" b="1" i="0" u="none" strike="noStrike" cap="none" normalizeH="0" baseline="0" dirty="0">
                <a:ln>
                  <a:noFill/>
                </a:ln>
                <a:solidFill>
                  <a:schemeClr val="tx1"/>
                </a:solidFill>
                <a:effectLst/>
                <a:latin typeface="Arial" panose="020B0604020202020204" pitchFamily="34" charset="0"/>
              </a:rPr>
              <a:t>Problemas identificados:</a:t>
            </a:r>
            <a:endParaRPr kumimoji="0" lang="es-419" altLang="es-419" sz="2800" b="0"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altLang="es-419" sz="2800" b="0" i="0" u="none" strike="noStrike" cap="none" normalizeH="0" baseline="0" dirty="0">
                <a:ln>
                  <a:noFill/>
                </a:ln>
                <a:solidFill>
                  <a:schemeClr val="tx1"/>
                </a:solidFill>
                <a:effectLst/>
                <a:latin typeface="Arial" panose="020B0604020202020204" pitchFamily="34" charset="0"/>
              </a:rPr>
              <a:t>Duplicación de información médica entre clínicas.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altLang="es-419" sz="2800" b="0" i="0" u="none" strike="noStrike" cap="none" normalizeH="0" baseline="0" dirty="0">
                <a:ln>
                  <a:noFill/>
                </a:ln>
                <a:solidFill>
                  <a:schemeClr val="tx1"/>
                </a:solidFill>
                <a:effectLst/>
                <a:latin typeface="Arial" panose="020B0604020202020204" pitchFamily="34" charset="0"/>
              </a:rPr>
              <a:t>Retrasos en la disponibilidad de exámenes y diagnósticos.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altLang="es-419" sz="2800" b="0" i="0" u="none" strike="noStrike" cap="none" normalizeH="0" baseline="0" dirty="0">
                <a:ln>
                  <a:noFill/>
                </a:ln>
                <a:solidFill>
                  <a:schemeClr val="tx1"/>
                </a:solidFill>
                <a:effectLst/>
                <a:latin typeface="Arial" panose="020B0604020202020204" pitchFamily="34" charset="0"/>
              </a:rPr>
              <a:t>Inconsistencias en la facturación entre unidades.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altLang="es-419" sz="2800" b="0" i="0" u="none" strike="noStrike" cap="none" normalizeH="0" baseline="0" dirty="0">
                <a:ln>
                  <a:noFill/>
                </a:ln>
                <a:solidFill>
                  <a:schemeClr val="tx1"/>
                </a:solidFill>
                <a:effectLst/>
                <a:latin typeface="Arial" panose="020B0604020202020204" pitchFamily="34" charset="0"/>
              </a:rPr>
              <a:t>Imposibilidad de generar reportes consolidados para decisiones gerenciales.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FA2A3-6818-4964-13EA-0C4D540A3D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08BD39-46B1-4AFA-53C2-AFC6AC700C66}"/>
              </a:ext>
            </a:extLst>
          </p:cNvPr>
          <p:cNvSpPr/>
          <p:nvPr/>
        </p:nvSpPr>
        <p:spPr>
          <a:xfrm>
            <a:off x="10124294" y="397"/>
            <a:ext cx="9979100" cy="2104196"/>
          </a:xfrm>
          <a:prstGeom prst="rect">
            <a:avLst/>
          </a:prstGeom>
          <a:blipFill>
            <a:blip r:embed="rId2" cstate="print"/>
            <a:stretch>
              <a:fillRect/>
            </a:stretch>
          </a:blipFill>
        </p:spPr>
        <p:txBody>
          <a:bodyPr wrap="square" lIns="0" tIns="0" rIns="0" bIns="0" rtlCol="0"/>
          <a:lstStyle/>
          <a:p>
            <a:endParaRPr sz="1801"/>
          </a:p>
        </p:txBody>
      </p:sp>
      <p:sp>
        <p:nvSpPr>
          <p:cNvPr id="3" name="object 3">
            <a:extLst>
              <a:ext uri="{FF2B5EF4-FFF2-40B4-BE49-F238E27FC236}">
                <a16:creationId xmlns:a16="http://schemas.microsoft.com/office/drawing/2014/main" id="{64E26D5C-071E-845D-A6BF-C73B47460584}"/>
              </a:ext>
            </a:extLst>
          </p:cNvPr>
          <p:cNvSpPr/>
          <p:nvPr/>
        </p:nvSpPr>
        <p:spPr>
          <a:xfrm>
            <a:off x="19184" y="3182"/>
            <a:ext cx="10509148" cy="2101703"/>
          </a:xfrm>
          <a:custGeom>
            <a:avLst/>
            <a:gdLst/>
            <a:ahLst/>
            <a:cxnLst/>
            <a:rect l="l" t="t" r="r" b="b"/>
            <a:pathLst>
              <a:path w="10509885" h="2101850">
                <a:moveTo>
                  <a:pt x="10170381" y="0"/>
                </a:moveTo>
                <a:lnTo>
                  <a:pt x="0" y="8334"/>
                </a:lnTo>
                <a:lnTo>
                  <a:pt x="0" y="2101559"/>
                </a:lnTo>
                <a:lnTo>
                  <a:pt x="10509344" y="2101559"/>
                </a:lnTo>
                <a:lnTo>
                  <a:pt x="10170381" y="0"/>
                </a:lnTo>
                <a:close/>
              </a:path>
            </a:pathLst>
          </a:custGeom>
          <a:solidFill>
            <a:srgbClr val="834E3E"/>
          </a:solidFill>
        </p:spPr>
        <p:txBody>
          <a:bodyPr wrap="square" lIns="0" tIns="0" rIns="0" bIns="0" rtlCol="0"/>
          <a:lstStyle/>
          <a:p>
            <a:endParaRPr sz="1801"/>
          </a:p>
        </p:txBody>
      </p:sp>
      <p:sp>
        <p:nvSpPr>
          <p:cNvPr id="4" name="object 4">
            <a:extLst>
              <a:ext uri="{FF2B5EF4-FFF2-40B4-BE49-F238E27FC236}">
                <a16:creationId xmlns:a16="http://schemas.microsoft.com/office/drawing/2014/main" id="{E2F865FD-A1B5-26CE-5C58-2ACCCC00FF46}"/>
              </a:ext>
            </a:extLst>
          </p:cNvPr>
          <p:cNvSpPr/>
          <p:nvPr/>
        </p:nvSpPr>
        <p:spPr>
          <a:xfrm>
            <a:off x="706" y="3183"/>
            <a:ext cx="10319986" cy="2101411"/>
          </a:xfrm>
          <a:prstGeom prst="rect">
            <a:avLst/>
          </a:prstGeom>
          <a:blipFill>
            <a:blip r:embed="rId3" cstate="print"/>
            <a:stretch>
              <a:fillRect/>
            </a:stretch>
          </a:blipFill>
        </p:spPr>
        <p:txBody>
          <a:bodyPr wrap="square" lIns="0" tIns="0" rIns="0" bIns="0" rtlCol="0"/>
          <a:lstStyle/>
          <a:p>
            <a:endParaRPr sz="1801"/>
          </a:p>
        </p:txBody>
      </p:sp>
      <p:sp>
        <p:nvSpPr>
          <p:cNvPr id="18" name="object 18">
            <a:extLst>
              <a:ext uri="{FF2B5EF4-FFF2-40B4-BE49-F238E27FC236}">
                <a16:creationId xmlns:a16="http://schemas.microsoft.com/office/drawing/2014/main" id="{4DA3F72D-20A3-2A04-B6CB-1297D4D5A21C}"/>
              </a:ext>
            </a:extLst>
          </p:cNvPr>
          <p:cNvSpPr/>
          <p:nvPr/>
        </p:nvSpPr>
        <p:spPr>
          <a:xfrm>
            <a:off x="4923710" y="335637"/>
            <a:ext cx="0" cy="1393093"/>
          </a:xfrm>
          <a:custGeom>
            <a:avLst/>
            <a:gdLst/>
            <a:ahLst/>
            <a:cxnLst/>
            <a:rect l="l" t="t" r="r" b="b"/>
            <a:pathLst>
              <a:path h="1393189">
                <a:moveTo>
                  <a:pt x="0" y="0"/>
                </a:moveTo>
                <a:lnTo>
                  <a:pt x="0" y="1393182"/>
                </a:lnTo>
              </a:path>
            </a:pathLst>
          </a:custGeom>
          <a:ln w="20941">
            <a:solidFill>
              <a:srgbClr val="FFFFFF"/>
            </a:solidFill>
          </a:ln>
        </p:spPr>
        <p:txBody>
          <a:bodyPr wrap="square" lIns="0" tIns="0" rIns="0" bIns="0" rtlCol="0"/>
          <a:lstStyle/>
          <a:p>
            <a:endParaRPr sz="1801"/>
          </a:p>
        </p:txBody>
      </p:sp>
      <p:sp>
        <p:nvSpPr>
          <p:cNvPr id="20" name="object 20">
            <a:extLst>
              <a:ext uri="{FF2B5EF4-FFF2-40B4-BE49-F238E27FC236}">
                <a16:creationId xmlns:a16="http://schemas.microsoft.com/office/drawing/2014/main" id="{39E0E3C3-B6F7-513A-6CEC-507D2A4AEB74}"/>
              </a:ext>
            </a:extLst>
          </p:cNvPr>
          <p:cNvSpPr/>
          <p:nvPr/>
        </p:nvSpPr>
        <p:spPr>
          <a:xfrm>
            <a:off x="18306928" y="1624903"/>
            <a:ext cx="1796924" cy="241919"/>
          </a:xfrm>
          <a:custGeom>
            <a:avLst/>
            <a:gdLst/>
            <a:ahLst/>
            <a:cxnLst/>
            <a:rect l="l" t="t" r="r" b="b"/>
            <a:pathLst>
              <a:path w="1797050" h="241935">
                <a:moveTo>
                  <a:pt x="1796594" y="0"/>
                </a:moveTo>
                <a:lnTo>
                  <a:pt x="0" y="0"/>
                </a:lnTo>
                <a:lnTo>
                  <a:pt x="31411" y="241631"/>
                </a:lnTo>
                <a:lnTo>
                  <a:pt x="1796594" y="241631"/>
                </a:lnTo>
                <a:lnTo>
                  <a:pt x="1796594" y="0"/>
                </a:lnTo>
                <a:close/>
              </a:path>
            </a:pathLst>
          </a:custGeom>
          <a:solidFill>
            <a:srgbClr val="1F3D6F">
              <a:alpha val="51998"/>
            </a:srgbClr>
          </a:solidFill>
        </p:spPr>
        <p:txBody>
          <a:bodyPr wrap="square" lIns="0" tIns="0" rIns="0" bIns="0" rtlCol="0"/>
          <a:lstStyle/>
          <a:p>
            <a:endParaRPr sz="1801"/>
          </a:p>
        </p:txBody>
      </p:sp>
      <p:sp>
        <p:nvSpPr>
          <p:cNvPr id="21" name="object 21">
            <a:extLst>
              <a:ext uri="{FF2B5EF4-FFF2-40B4-BE49-F238E27FC236}">
                <a16:creationId xmlns:a16="http://schemas.microsoft.com/office/drawing/2014/main" id="{F48DF8B3-3483-6A1A-9A6F-7343056BAAA7}"/>
              </a:ext>
            </a:extLst>
          </p:cNvPr>
          <p:cNvSpPr/>
          <p:nvPr/>
        </p:nvSpPr>
        <p:spPr>
          <a:xfrm>
            <a:off x="17713687" y="1559853"/>
            <a:ext cx="2389707" cy="537745"/>
          </a:xfrm>
          <a:prstGeom prst="rect">
            <a:avLst/>
          </a:prstGeom>
          <a:blipFill>
            <a:blip r:embed="rId4" cstate="print"/>
            <a:stretch>
              <a:fillRect/>
            </a:stretch>
          </a:blipFill>
        </p:spPr>
        <p:txBody>
          <a:bodyPr wrap="square" lIns="0" tIns="0" rIns="0" bIns="0" rtlCol="0"/>
          <a:lstStyle/>
          <a:p>
            <a:endParaRPr sz="1801"/>
          </a:p>
        </p:txBody>
      </p:sp>
      <p:sp>
        <p:nvSpPr>
          <p:cNvPr id="22" name="object 22">
            <a:extLst>
              <a:ext uri="{FF2B5EF4-FFF2-40B4-BE49-F238E27FC236}">
                <a16:creationId xmlns:a16="http://schemas.microsoft.com/office/drawing/2014/main" id="{B5DA60A2-7669-D26C-EA28-58E85AEF6CC3}"/>
              </a:ext>
            </a:extLst>
          </p:cNvPr>
          <p:cNvSpPr txBox="1"/>
          <p:nvPr/>
        </p:nvSpPr>
        <p:spPr>
          <a:xfrm>
            <a:off x="18505216" y="1606333"/>
            <a:ext cx="1421031" cy="228267"/>
          </a:xfrm>
          <a:prstGeom prst="rect">
            <a:avLst/>
          </a:prstGeom>
        </p:spPr>
        <p:txBody>
          <a:bodyPr vert="horz" wrap="square" lIns="0" tIns="12699" rIns="0" bIns="0" rtlCol="0">
            <a:spAutoFit/>
          </a:bodyPr>
          <a:lstStyle/>
          <a:p>
            <a:pPr marL="12699">
              <a:spcBef>
                <a:spcPts val="101"/>
              </a:spcBef>
            </a:pPr>
            <a:r>
              <a:rPr sz="1400" dirty="0">
                <a:solidFill>
                  <a:srgbClr val="FFFFFF"/>
                </a:solidFill>
                <a:latin typeface="Arial"/>
                <a:cs typeface="Arial"/>
              </a:rPr>
              <a:t>Edificio Ad</a:t>
            </a:r>
            <a:r>
              <a:rPr sz="1400" spc="-160" dirty="0">
                <a:solidFill>
                  <a:srgbClr val="FFFFFF"/>
                </a:solidFill>
                <a:latin typeface="Arial"/>
                <a:cs typeface="Arial"/>
              </a:rPr>
              <a:t> </a:t>
            </a:r>
            <a:r>
              <a:rPr sz="1400" dirty="0">
                <a:solidFill>
                  <a:srgbClr val="FFFFFF"/>
                </a:solidFill>
                <a:latin typeface="Arial"/>
                <a:cs typeface="Arial"/>
              </a:rPr>
              <a:t>Portas</a:t>
            </a:r>
            <a:endParaRPr sz="1400">
              <a:latin typeface="Arial"/>
              <a:cs typeface="Arial"/>
            </a:endParaRPr>
          </a:p>
        </p:txBody>
      </p:sp>
      <p:sp>
        <p:nvSpPr>
          <p:cNvPr id="25" name="object 21">
            <a:extLst>
              <a:ext uri="{FF2B5EF4-FFF2-40B4-BE49-F238E27FC236}">
                <a16:creationId xmlns:a16="http://schemas.microsoft.com/office/drawing/2014/main" id="{D1A4DCA7-3C79-0A59-843B-1E9B30AAC380}"/>
              </a:ext>
            </a:extLst>
          </p:cNvPr>
          <p:cNvSpPr txBox="1">
            <a:spLocks/>
          </p:cNvSpPr>
          <p:nvPr/>
        </p:nvSpPr>
        <p:spPr>
          <a:xfrm>
            <a:off x="5296362" y="473441"/>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CO" sz="3199" kern="0" spc="-64" dirty="0"/>
              <a:t>Facultad</a:t>
            </a:r>
            <a:r>
              <a:rPr lang="es-CO" sz="3199" kern="0" spc="-236" dirty="0"/>
              <a:t> </a:t>
            </a:r>
            <a:r>
              <a:rPr lang="es-CO" sz="3199" kern="0" spc="-74" dirty="0"/>
              <a:t>de</a:t>
            </a:r>
          </a:p>
          <a:p>
            <a:pPr marL="12699">
              <a:spcBef>
                <a:spcPts val="30"/>
              </a:spcBef>
            </a:pPr>
            <a:r>
              <a:rPr lang="es-CO" sz="3199" b="1" kern="0" spc="-74" dirty="0"/>
              <a:t>Ingeniería</a:t>
            </a:r>
          </a:p>
        </p:txBody>
      </p:sp>
      <p:pic>
        <p:nvPicPr>
          <p:cNvPr id="26" name="Imagen 25" descr="Imagen que contiene dibujo&#10;&#10;Descripción generada automáticamente">
            <a:extLst>
              <a:ext uri="{FF2B5EF4-FFF2-40B4-BE49-F238E27FC236}">
                <a16:creationId xmlns:a16="http://schemas.microsoft.com/office/drawing/2014/main" id="{E75E17E6-9328-D021-5855-8825A468C3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144" y="322207"/>
            <a:ext cx="4072010" cy="1485733"/>
          </a:xfrm>
          <a:prstGeom prst="rect">
            <a:avLst/>
          </a:prstGeom>
        </p:spPr>
      </p:pic>
      <p:sp>
        <p:nvSpPr>
          <p:cNvPr id="5" name="object 2">
            <a:extLst>
              <a:ext uri="{FF2B5EF4-FFF2-40B4-BE49-F238E27FC236}">
                <a16:creationId xmlns:a16="http://schemas.microsoft.com/office/drawing/2014/main" id="{19998ACD-1A8F-14A6-E721-A781369E4736}"/>
              </a:ext>
            </a:extLst>
          </p:cNvPr>
          <p:cNvSpPr txBox="1"/>
          <p:nvPr/>
        </p:nvSpPr>
        <p:spPr>
          <a:xfrm>
            <a:off x="5569667" y="2557265"/>
            <a:ext cx="8964766" cy="1932195"/>
          </a:xfrm>
          <a:prstGeom prst="rect">
            <a:avLst/>
          </a:prstGeom>
        </p:spPr>
        <p:txBody>
          <a:bodyPr vert="horz" wrap="square" lIns="0" tIns="11429" rIns="0" bIns="0" rtlCol="0">
            <a:spAutoFit/>
          </a:bodyPr>
          <a:lstStyle/>
          <a:p>
            <a:pPr marL="68577" algn="ctr">
              <a:lnSpc>
                <a:spcPts val="7419"/>
              </a:lnSpc>
            </a:pPr>
            <a:r>
              <a:rPr lang="es-MX" sz="8905" b="1" spc="-600" dirty="0">
                <a:solidFill>
                  <a:srgbClr val="1F3D6F"/>
                </a:solidFill>
                <a:latin typeface="Arial"/>
                <a:cs typeface="Arial"/>
              </a:rPr>
              <a:t>Lecturas recomendadas</a:t>
            </a:r>
            <a:endParaRPr sz="8905" b="1" spc="-600" dirty="0">
              <a:solidFill>
                <a:srgbClr val="1F3D6F"/>
              </a:solidFill>
              <a:latin typeface="Arial"/>
              <a:cs typeface="Arial"/>
            </a:endParaRPr>
          </a:p>
        </p:txBody>
      </p:sp>
      <p:sp>
        <p:nvSpPr>
          <p:cNvPr id="13" name="CuadroTexto 12">
            <a:extLst>
              <a:ext uri="{FF2B5EF4-FFF2-40B4-BE49-F238E27FC236}">
                <a16:creationId xmlns:a16="http://schemas.microsoft.com/office/drawing/2014/main" id="{1841E469-115D-8342-B441-CC8E15C1015B}"/>
              </a:ext>
            </a:extLst>
          </p:cNvPr>
          <p:cNvSpPr txBox="1"/>
          <p:nvPr/>
        </p:nvSpPr>
        <p:spPr>
          <a:xfrm>
            <a:off x="3652745" y="6443761"/>
            <a:ext cx="12798610" cy="2862322"/>
          </a:xfrm>
          <a:prstGeom prst="rect">
            <a:avLst/>
          </a:prstGeom>
          <a:noFill/>
        </p:spPr>
        <p:txBody>
          <a:bodyPr wrap="square">
            <a:spAutoFit/>
          </a:bodyPr>
          <a:lstStyle/>
          <a:p>
            <a:pPr marL="457200" indent="-457200">
              <a:buFont typeface="Arial" panose="020B0604020202020204" pitchFamily="34" charset="0"/>
              <a:buChar char="•"/>
            </a:pPr>
            <a:r>
              <a:rPr lang="es-MX" sz="3600" dirty="0">
                <a:latin typeface="Arial" panose="020B0604020202020204" pitchFamily="34" charset="0"/>
                <a:cs typeface="Arial" panose="020B0604020202020204" pitchFamily="34" charset="0"/>
              </a:rPr>
              <a:t>OMG – BPMN </a:t>
            </a:r>
            <a:r>
              <a:rPr lang="es-MX" sz="3600" dirty="0" err="1">
                <a:latin typeface="Arial" panose="020B0604020202020204" pitchFamily="34" charset="0"/>
                <a:cs typeface="Arial" panose="020B0604020202020204" pitchFamily="34" charset="0"/>
              </a:rPr>
              <a:t>Specification</a:t>
            </a:r>
            <a:r>
              <a:rPr lang="es-MX" sz="3600" dirty="0">
                <a:latin typeface="Arial" panose="020B0604020202020204" pitchFamily="34" charset="0"/>
                <a:cs typeface="Arial" panose="020B0604020202020204" pitchFamily="34" charset="0"/>
              </a:rPr>
              <a:t> (sección introductoria)</a:t>
            </a:r>
          </a:p>
          <a:p>
            <a:pPr marL="457200" indent="-457200">
              <a:buFont typeface="Arial" panose="020B0604020202020204" pitchFamily="34" charset="0"/>
              <a:buChar char="•"/>
            </a:pPr>
            <a:r>
              <a:rPr lang="es-MX" sz="3600" dirty="0" err="1">
                <a:latin typeface="Arial" panose="020B0604020202020204" pitchFamily="34" charset="0"/>
                <a:cs typeface="Arial" panose="020B0604020202020204" pitchFamily="34" charset="0"/>
              </a:rPr>
              <a:t>Camunda</a:t>
            </a:r>
            <a:r>
              <a:rPr lang="es-MX" sz="3600" dirty="0">
                <a:latin typeface="Arial" panose="020B0604020202020204" pitchFamily="34" charset="0"/>
                <a:cs typeface="Arial" panose="020B0604020202020204" pitchFamily="34" charset="0"/>
              </a:rPr>
              <a:t> BPMN </a:t>
            </a:r>
            <a:r>
              <a:rPr lang="es-MX" sz="3600" dirty="0" err="1">
                <a:latin typeface="Arial" panose="020B0604020202020204" pitchFamily="34" charset="0"/>
                <a:cs typeface="Arial" panose="020B0604020202020204" pitchFamily="34" charset="0"/>
              </a:rPr>
              <a:t>cheat</a:t>
            </a:r>
            <a:r>
              <a:rPr lang="es-MX" sz="3600" dirty="0">
                <a:latin typeface="Arial" panose="020B0604020202020204" pitchFamily="34" charset="0"/>
                <a:cs typeface="Arial" panose="020B0604020202020204" pitchFamily="34" charset="0"/>
              </a:rPr>
              <a:t> </a:t>
            </a:r>
            <a:r>
              <a:rPr lang="es-MX" sz="3600" dirty="0" err="1">
                <a:latin typeface="Arial" panose="020B0604020202020204" pitchFamily="34" charset="0"/>
                <a:cs typeface="Arial" panose="020B0604020202020204" pitchFamily="34" charset="0"/>
              </a:rPr>
              <a:t>sheet</a:t>
            </a:r>
            <a:endParaRPr lang="es-MX" sz="36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s-MX" sz="3600" dirty="0">
                <a:latin typeface="Arial" panose="020B0604020202020204" pitchFamily="34" charset="0"/>
                <a:cs typeface="Arial" panose="020B0604020202020204" pitchFamily="34" charset="0"/>
              </a:rPr>
              <a:t>Bizagi BPMN Training Guide</a:t>
            </a:r>
          </a:p>
          <a:p>
            <a:pPr marL="457200" indent="-457200">
              <a:buFont typeface="Arial" panose="020B0604020202020204" pitchFamily="34" charset="0"/>
              <a:buChar char="•"/>
            </a:pPr>
            <a:r>
              <a:rPr lang="es-MX" sz="3600" dirty="0" err="1">
                <a:latin typeface="Arial" panose="020B0604020202020204" pitchFamily="34" charset="0"/>
                <a:cs typeface="Arial" panose="020B0604020202020204" pitchFamily="34" charset="0"/>
              </a:rPr>
              <a:t>Astah</a:t>
            </a:r>
            <a:r>
              <a:rPr lang="es-MX" sz="3600" dirty="0">
                <a:latin typeface="Arial" panose="020B0604020202020204" pitchFamily="34" charset="0"/>
                <a:cs typeface="Arial" panose="020B0604020202020204" pitchFamily="34" charset="0"/>
              </a:rPr>
              <a:t> UML: </a:t>
            </a:r>
            <a:r>
              <a:rPr lang="es-MX" sz="3600" dirty="0">
                <a:latin typeface="Arial" panose="020B0604020202020204" pitchFamily="34" charset="0"/>
                <a:cs typeface="Arial" panose="020B0604020202020204" pitchFamily="34" charset="0"/>
                <a:hlinkClick r:id="rId6"/>
              </a:rPr>
              <a:t>https://astahblog.com/2020/05/29/bpmn-look-and-feel/</a:t>
            </a:r>
            <a:r>
              <a:rPr lang="es-MX" sz="3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74827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72D1141-6567-B34E-920E-8C77FAED0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4"/>
            <a:ext cx="20104100" cy="11308556"/>
          </a:xfrm>
          <a:prstGeom prst="rect">
            <a:avLst/>
          </a:prstGeom>
        </p:spPr>
      </p:pic>
      <p:pic>
        <p:nvPicPr>
          <p:cNvPr id="4" name="Imagen 3" descr="Imagen que contiene camiseta, dibujo&#10;&#10;Descripción generada automáticamente">
            <a:extLst>
              <a:ext uri="{FF2B5EF4-FFF2-40B4-BE49-F238E27FC236}">
                <a16:creationId xmlns:a16="http://schemas.microsoft.com/office/drawing/2014/main" id="{188BE409-519E-4942-A5BD-DE13B214A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450" y="3597672"/>
            <a:ext cx="6765581" cy="4737100"/>
          </a:xfrm>
          <a:prstGeom prst="rect">
            <a:avLst/>
          </a:prstGeom>
        </p:spPr>
      </p:pic>
      <p:sp>
        <p:nvSpPr>
          <p:cNvPr id="5" name="object 22">
            <a:extLst>
              <a:ext uri="{FF2B5EF4-FFF2-40B4-BE49-F238E27FC236}">
                <a16:creationId xmlns:a16="http://schemas.microsoft.com/office/drawing/2014/main" id="{97A236D8-6B29-294D-9959-E79E78B9C22E}"/>
              </a:ext>
            </a:extLst>
          </p:cNvPr>
          <p:cNvSpPr txBox="1">
            <a:spLocks/>
          </p:cNvSpPr>
          <p:nvPr/>
        </p:nvSpPr>
        <p:spPr>
          <a:xfrm>
            <a:off x="16605250" y="244475"/>
            <a:ext cx="2647315" cy="1246495"/>
          </a:xfrm>
          <a:prstGeom prst="rect">
            <a:avLst/>
          </a:prstGeom>
        </p:spPr>
        <p:txBody>
          <a:bodyPr vert="horz" wrap="square" lIns="0" tIns="15240" rIns="0" bIns="0" rtlCol="0">
            <a:spAutoFit/>
          </a:bodyPr>
          <a:lstStyle>
            <a:lvl1pPr>
              <a:defRPr>
                <a:latin typeface="+mj-lt"/>
                <a:ea typeface="+mj-ea"/>
                <a:cs typeface="+mj-cs"/>
              </a:defRPr>
            </a:lvl1pPr>
          </a:lstStyle>
          <a:p>
            <a:pPr marL="12700" algn="r">
              <a:spcBef>
                <a:spcPts val="120"/>
              </a:spcBef>
            </a:pPr>
            <a:r>
              <a:rPr lang="es-419" sz="4000" kern="0" spc="-65" dirty="0">
                <a:solidFill>
                  <a:schemeClr val="bg1"/>
                </a:solidFill>
                <a:latin typeface="Arial" panose="020B0604020202020204" pitchFamily="34" charset="0"/>
                <a:cs typeface="Arial" panose="020B0604020202020204" pitchFamily="34" charset="0"/>
              </a:rPr>
              <a:t>Facultad</a:t>
            </a:r>
            <a:r>
              <a:rPr lang="es-419" sz="4000" kern="0" spc="-235" dirty="0">
                <a:solidFill>
                  <a:schemeClr val="bg1"/>
                </a:solidFill>
                <a:latin typeface="Arial" panose="020B0604020202020204" pitchFamily="34" charset="0"/>
                <a:cs typeface="Arial" panose="020B0604020202020204" pitchFamily="34" charset="0"/>
              </a:rPr>
              <a:t> </a:t>
            </a:r>
            <a:r>
              <a:rPr lang="es-419" sz="4000" kern="0" spc="-75" dirty="0">
                <a:solidFill>
                  <a:schemeClr val="bg1"/>
                </a:solidFill>
                <a:latin typeface="Arial" panose="020B0604020202020204" pitchFamily="34" charset="0"/>
                <a:cs typeface="Arial" panose="020B0604020202020204" pitchFamily="34" charset="0"/>
              </a:rPr>
              <a:t>de</a:t>
            </a:r>
          </a:p>
          <a:p>
            <a:pPr marL="12700" algn="r">
              <a:spcBef>
                <a:spcPts val="30"/>
              </a:spcBef>
            </a:pPr>
            <a:r>
              <a:rPr lang="es-419" sz="4000" b="1" kern="0" spc="-75" dirty="0">
                <a:solidFill>
                  <a:schemeClr val="bg1"/>
                </a:solidFill>
                <a:latin typeface="Arial" panose="020B0604020202020204" pitchFamily="34" charset="0"/>
                <a:cs typeface="Arial" panose="020B0604020202020204" pitchFamily="34" charset="0"/>
              </a:rPr>
              <a:t>Ingeniería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AD46A2B-4762-4C7D-88B2-25FFFAF15218}">
  <we:reference id="ec75510c-17ee-4a9f-ace0-62bbcae56d7a" version="1.0.0.0" store="EXCatalog" storeType="EXCatalog"/>
  <we:alternateReferences>
    <we:reference id="WA200000094" version="1.0.0.0" store="es-E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8B5A6E99B66C54FBF1295E808E38F30" ma:contentTypeVersion="5" ma:contentTypeDescription="Crear nuevo documento." ma:contentTypeScope="" ma:versionID="086ddfc3fb04f784382792a53c8d62dc">
  <xsd:schema xmlns:xsd="http://www.w3.org/2001/XMLSchema" xmlns:xs="http://www.w3.org/2001/XMLSchema" xmlns:p="http://schemas.microsoft.com/office/2006/metadata/properties" xmlns:ns2="1ff709fa-6d6a-449e-a9ef-a200e2783c0e" targetNamespace="http://schemas.microsoft.com/office/2006/metadata/properties" ma:root="true" ma:fieldsID="f1f365a0897f561fe2a6cf5df9687f2d" ns2:_="">
    <xsd:import namespace="1ff709fa-6d6a-449e-a9ef-a200e2783c0e"/>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709fa-6d6a-449e-a9ef-a200e2783c0e" elementFormDefault="qualified">
    <xsd:import namespace="http://schemas.microsoft.com/office/2006/documentManagement/types"/>
    <xsd:import namespace="http://schemas.microsoft.com/office/infopath/2007/PartnerControls"/>
    <xsd:element name="_dlc_DocId" ma:index="8" nillable="true" ma:displayName="Valor de Id. de documento" ma:description="El valor del identificador de documento asignado a este elemento." ma:internalName="_dlc_DocId" ma:readOnly="true">
      <xsd:simpleType>
        <xsd:restriction base="dms:Text"/>
      </xsd:simpleType>
    </xsd:element>
    <xsd:element name="_dlc_DocIdUrl" ma:index="9" nillable="true" ma:displayName="Id. de documento" ma:description="Vínculo permanente a este documento."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1ff709fa-6d6a-449e-a9ef-a200e2783c0e">5CJVHRM7X7WS-166-1747</_dlc_DocId>
    <_dlc_DocIdUrl xmlns="1ff709fa-6d6a-449e-a9ef-a200e2783c0e">
      <Url>https://portalservicios.unisabana.edu.co/manualIV/_layouts/15/DocIdRedir.aspx?ID=5CJVHRM7X7WS-166-1747</Url>
      <Description>5CJVHRM7X7WS-166-1747</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6A3D0169-65D7-4331-9C90-13C12C0FCC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f709fa-6d6a-449e-a9ef-a200e2783c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224B1E-1E06-4646-B4EC-7B28B799F25B}">
  <ds:schemaRefs>
    <ds:schemaRef ds:uri="http://schemas.microsoft.com/office/2006/metadata/properties"/>
    <ds:schemaRef ds:uri="http://schemas.microsoft.com/office/infopath/2007/PartnerControls"/>
    <ds:schemaRef ds:uri="1ff709fa-6d6a-449e-a9ef-a200e2783c0e"/>
  </ds:schemaRefs>
</ds:datastoreItem>
</file>

<file path=customXml/itemProps3.xml><?xml version="1.0" encoding="utf-8"?>
<ds:datastoreItem xmlns:ds="http://schemas.openxmlformats.org/officeDocument/2006/customXml" ds:itemID="{2B1A673A-F4B6-45FE-B87B-B11F2535F3AA}">
  <ds:schemaRefs>
    <ds:schemaRef ds:uri="http://schemas.microsoft.com/sharepoint/v3/contenttype/forms"/>
  </ds:schemaRefs>
</ds:datastoreItem>
</file>

<file path=customXml/itemProps4.xml><?xml version="1.0" encoding="utf-8"?>
<ds:datastoreItem xmlns:ds="http://schemas.openxmlformats.org/officeDocument/2006/customXml" ds:itemID="{B064FBAA-C05D-48F7-86F6-6DD8C3EBF011}">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588</TotalTime>
  <Words>1113</Words>
  <Application>Microsoft Office PowerPoint</Application>
  <PresentationFormat>Personalizado</PresentationFormat>
  <Paragraphs>111</Paragraphs>
  <Slides>14</Slides>
  <Notes>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Aptos</vt:lpstr>
      <vt:lpstr>Arial</vt:lpstr>
      <vt:lpstr>Calibri</vt:lpstr>
      <vt:lpstr>Office Theme</vt:lpstr>
      <vt:lpstr>Arquitectura Empresarial Introducción a BPMN</vt:lpstr>
      <vt:lpstr>Presentación de PowerPoint</vt:lpstr>
      <vt:lpstr>¿Qué es BPMN?</vt:lpstr>
      <vt:lpstr>Facultad de Ingeniería</vt:lpstr>
      <vt:lpstr>Presentación de PowerPoint</vt:lpstr>
      <vt:lpstr>Facultad de Ingeniería</vt:lpstr>
      <vt:lpstr>Facultad de Ingeniería</vt:lpstr>
      <vt:lpstr>Presentación de PowerPoint</vt:lpstr>
      <vt:lpstr>Facultad de Ingeniería</vt:lpstr>
      <vt:lpstr>Facultad de Ingeniería</vt:lpstr>
      <vt:lpstr>Facultad de Ingeniería</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Ingeniería</dc:title>
  <dc:creator>Cesar Vega</dc:creator>
  <cp:lastModifiedBy>Cesar Augusto Vega Fernandez</cp:lastModifiedBy>
  <cp:revision>40</cp:revision>
  <dcterms:created xsi:type="dcterms:W3CDTF">2019-09-24T14:34:44Z</dcterms:created>
  <dcterms:modified xsi:type="dcterms:W3CDTF">2025-08-02T00:24:37Z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2019-09-23T00:00:00Z</vt:filetime>
  </property>
  <property fmtid="{D5CDD505-2E9C-101B-9397-08002B2CF9AE}" pid="3" name="Creator">
    <vt:lpwstr>Adobe Illustrator CC 23.0 (Macintosh)</vt:lpwstr>
  </property>
  <property fmtid="{D5CDD505-2E9C-101B-9397-08002B2CF9AE}" pid="4" name="LastSaved">
    <vt:filetime>2019-09-24T00:00:00Z</vt:filetime>
  </property>
  <property fmtid="{D5CDD505-2E9C-101B-9397-08002B2CF9AE}" pid="5" name="ContentTypeId">
    <vt:lpwstr>0x01010098B5A6E99B66C54FBF1295E808E38F30</vt:lpwstr>
  </property>
  <property fmtid="{D5CDD505-2E9C-101B-9397-08002B2CF9AE}" pid="6" name="_dlc_DocIdItemGuid">
    <vt:lpwstr>1222df11-506f-40de-b437-c7254a0c63aa</vt:lpwstr>
  </property>
</Properties>
</file>